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OTProof as a small, evidence-first assurance workflow for vulnerability applicability and remediation review. It starts with an operator-provided CSV or spreadsheet and compares it with approved public advisory information. Deterministic rules make the first applicability classification; a person handles uncertainty, remediation approval, and evidence verification. The demonstration dataset is fictional and the advisory records are real public CISA examples. The application never scans, exploits, or modifies industrial equipment. The aim of this pitch is to validate whether operators need a focused workflow alongside their existing OT security and GRC systems.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problem is not merely a lack of vulnerability data. Teams need to connect a specific installed asset to a specific published affected product/version and keep the basis for their decision. Inventory records may have old timestamps, vendor spelling differences, or missing firmware. Advisories may use a different product family name or a nuanced version boundary. A loose name match can create noise, while a missing version can block a safe conclusion. NIST SP 800-82 Revision 3, the current published final guide used here, emphasizes accurate inventory details and careful evaluation of automated OT collection methods. OTProof begins from records operators already have.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 environments have availability, reliability, and safety requirements that shape how security work is performed. OTProof is deliberately not an asset discovery product and does not ask an operator to scan or modify controllers, gateways, HMIs, or supervisory systems. The user supplies the inventory, and the service retrieves public advisory information. NIST lists Revision 3 as final and Revision 4 as a draft from September 2026, so these materials cite Revision 3 as final. The product's role is narrower: produce an explainable candidate and leave technical applicability, change planning, approval, and verification with authorized staff.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six steps. First, load a CSV or XLSX inventory and validate required fields, identifiers, and workbook type. Second, import CISA ICS or KEV data, an NVD CVE record, or an approved vendor bulletin; offline fixtures remain available. Third, run deterministic matching and inspect every source and inventory field. Fourth, an engineer or reviewer records an applicability decision and rationale. Fifth, a remediation action can be proposed and approved by a separate approver. Sixth, evidence is attached and verified against a selected record. The assurance report exports that chain. A generated summary or an attached evidence note cannot independently close a finding.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fixture example to show the three labels. CV-HMI-001 records FactoryTalk View Site Edition version 13.0.0. The matcher normalizes a curated product alias and numeric trailing zero, then compares the installed version to CISA's affected statement for FactoryTalk View SE version 13.0. CV-HMI-002 uses the same product at 14.0, which is outside the exact version statement. CV-HMI-005 has no firmware version; the correct result is manual verification because product identity alone is insufficient. The advisory is genuine and its CISA URL and publication/update dates are included. The utility and asset records are fictional.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matcher is intentionally conservative. It normalizes case and punctuation and applies a short, curated alias map. It does not use Sentence Transformers or an embedding score as a vulnerability verdict. Numeric dotted versions are compared against supported operators. Constraints within one CPE match are conjunctive; alternate product candidates remain alternatives. Missing firmware, a stale inventory verification date, unknown model, duplicate identity, unsupported suffixes, or compound NVD configuration logic produce a manual-review outcome. Every result keeps the inventory values, advisory identifier, source URL, excerpt, and explanation. Product and model catalogs still need wider field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is a small, optional component, not the core decision maker. A local Ollama-compatible server can propose structured extraction and a plain-language summary. The prompt identifies advisory content as untrusted and says to ignore embedded commands. Pydantic validates output shape, and cited identifiers, product/version/mitigation strings, and quotes are checked against the source. These checks reduce unsupported output but cannot prove summary completeness or correctness. The application labels the result suggestion-only. The model was not installed or run during this MVP validation, and no extraction accuracy benefit is claimed. A future evaluation should compare blinded model outputs against engineer-labeled source excerpts and deterministic extraction baselines.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technology choices as an implementation, not a production certification. The UI is React and TypeScript. FastAPI validates routes and Pydantic schemas. SQLAlchemy sits over PostgreSQL for deployment and SQLite for quick local use. Alembic tracks schema migrations. Source adapters store cached payloads and metadata; the matcher produces traceable findings; workflow services record decisions; ReportLab exports PDF. Docker Compose packages the services, although a Docker daemon was unavailable in the build environment, so startup was not verified. The optional LLM calls a local inference endpoint. No service connects to an OT address range or equipment protocol.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decisions are distinct records. A reviewer records whether the advisory applies and why. An engineer proposes a mitigation with an owner and date, and a separate approver can approve or reject that plan. The engineer attaches evidence; the approver verifies a selected evidence record and explains the decision. The application hashes evidence text content and records the actor and role. Hashing only preserves a comparison value; it does not make the database immutable or prove the source document is authentic. The demo workflow uses visible local tokens for convenience and is not a production authentication setup. In a real deployment, use managed identities and protected audit storage.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competitors respectfully and accurately. Claroty describes a broad CPS platform across inventory, exposure, protection, and secure access (https://claroty.com/platform). Tenable describes OT asset inventory, vulnerability prioritization, remediation and compliance integrations, and a combination of passive monitoring with vendor-approved active queries (https://www.tenable.com/products/ot-security). Nozomi documentation describes asset discovery, firmware information, and vulnerability assessment (https://technicaldocs.nozominetworks.com/guardian/latest/products/guardian/topics/intro/c_guardian.html). ServiceNow describes risk assessment and issue workflows within its GRC/IRM products (https://www.servicenow.com/docs/r/governance-risk-compliance/grc-risk-management-workspace/grc-risk-overview.html). OTProof has not outperformed these products and may not replace them. The hypothesis to validate is whether a file-first, evidence-centric reconciliation flow is useful in a small team or as a data/workflow connector to existing platforms. Pilot interviews and integration testing will decide.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illustrative scenarios, not market research, signed orders, or a revenue forecast. The model assumes three licensed sites per customer at $36,000 per site per year, $25,000 onboarding revenue per new customer, a 78% software gross margin, and 40% services gross margin. The 25-customer case implies 75 licensed sites and $2.70 million recurring ARR. First-year revenue includes onboarding; recurring gross profit excludes services. Sales cycle, procurement, hosting, support, data onboarding and integration costs are not yet measured. Validate the price with target operators and service providers, and derive gross margin from observed deployment and support costs.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deliberately small synthetic fixture evaluation. It has 14 labeled pairs: four applicable, four not applicable, and six manual verification. All expected outcomes were produced, including every expected abstention, and each output carried source identifiers, URL, and excerpt. The 100% values are not statistically meaningful estimates for unseen products; four positives are too few for that. The approximately 1.01 millisecond benchmark is a single in-process matcher pass over 240 combinations on the development machine. It excludes database and network time. The local model was not run, extraction accuracy is not measured, and no operator time study or savings estimate has been validated.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safety boundary in practical terms. OTProof reads operator-uploaded files and public web sources only. It does not send packets to controllers or install fixes. Uploaded data and advisory pages are treated as untrusted. The optional model is explicitly told not to follow content instructions; structured output is validated against schema and source text. Role checks guard engineering decisions, ticket approvals, and verification. However, the demo token system is not production-grade, the database audit trail can be changed by a privileged database operator, and the tests are not a penetration test. A production pilot requires identity integration, threat modeling, security review, backup and retention controls, and operator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concrete ask: access to an OT security and engineering team willing to evaluate a controlled pilot using non-sensitive or approved inventory data. The pilot should use multiple vendors, equipment families, and source formats. Engineers should create expected labels before seeing the matcher output, then adjudicate disagreements. Measure missing-data abstention quality, false negatives, false positives, source traceability, minutes per asset/advisory review, onboarding hours, integration requirements, and willingness to pay. Later work includes SSO, stronger audit retention, packaging hardening, and CMMS/GRC integration. This pitch makes no claim of customers, market sizing, savings, or improved risk outcomes. Those are the hypotheses the pilot should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430"/>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629400" y="0"/>
            <a:ext cx="5562295" cy="6858000"/>
          </a:xfrm>
          <a:prstGeom prst="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576072"/>
            <a:ext cx="3657600" cy="274320"/>
          </a:xfrm>
          <a:prstGeom prst="rect">
            <a:avLst/>
          </a:prstGeom>
          <a:noFill/>
        </p:spPr>
        <p:txBody>
          <a:bodyPr wrap="square" lIns="0" rIns="0" tIns="0" bIns="0">
            <a:spAutoFit/>
          </a:bodyPr>
          <a:lstStyle/>
          <a:p>
            <a:pPr algn="l">
              <a:defRPr sz="900" b="1">
                <a:solidFill>
                  <a:srgbClr val="8FC7BE"/>
                </a:solidFill>
                <a:latin typeface="Aptos"/>
              </a:defRPr>
            </a:pPr>
            <a:r>
              <a:t>EUREKA HACKATHON  /  OT CYBERSECURITY</a:t>
            </a:r>
          </a:p>
        </p:txBody>
      </p:sp>
      <p:sp>
        <p:nvSpPr>
          <p:cNvPr id="5" name="TextBox 4"/>
          <p:cNvSpPr txBox="1"/>
          <p:nvPr/>
        </p:nvSpPr>
        <p:spPr>
          <a:xfrm>
            <a:off x="758952" y="1325880"/>
            <a:ext cx="5394960" cy="749808"/>
          </a:xfrm>
          <a:prstGeom prst="rect">
            <a:avLst/>
          </a:prstGeom>
          <a:noFill/>
        </p:spPr>
        <p:txBody>
          <a:bodyPr wrap="square" lIns="0" rIns="0" tIns="0" bIns="0">
            <a:spAutoFit/>
          </a:bodyPr>
          <a:lstStyle/>
          <a:p>
            <a:pPr algn="l">
              <a:defRPr sz="4000" b="1">
                <a:solidFill>
                  <a:srgbClr val="FFFFFF"/>
                </a:solidFill>
                <a:latin typeface="Aptos Display"/>
              </a:defRPr>
            </a:pPr>
            <a:r>
              <a:t>OTProof</a:t>
            </a:r>
          </a:p>
        </p:txBody>
      </p:sp>
      <p:sp>
        <p:nvSpPr>
          <p:cNvPr id="6" name="TextBox 5"/>
          <p:cNvSpPr txBox="1"/>
          <p:nvPr/>
        </p:nvSpPr>
        <p:spPr>
          <a:xfrm>
            <a:off x="777240" y="2176272"/>
            <a:ext cx="5074920" cy="914400"/>
          </a:xfrm>
          <a:prstGeom prst="rect">
            <a:avLst/>
          </a:prstGeom>
          <a:noFill/>
        </p:spPr>
        <p:txBody>
          <a:bodyPr wrap="square" lIns="0" rIns="0" tIns="0" bIns="0">
            <a:spAutoFit/>
          </a:bodyPr>
          <a:lstStyle/>
          <a:p>
            <a:pPr algn="l">
              <a:defRPr sz="2000" b="0">
                <a:solidFill>
                  <a:srgbClr val="D7E5E4"/>
                </a:solidFill>
                <a:latin typeface="Aptos"/>
              </a:defRPr>
            </a:pPr>
            <a:r>
              <a:t>Evidence-first vulnerability applicability and remediation assurance for industrial assets</a:t>
            </a:r>
          </a:p>
        </p:txBody>
      </p:sp>
      <p:sp>
        <p:nvSpPr>
          <p:cNvPr id="7" name="TextBox 6"/>
          <p:cNvSpPr txBox="1"/>
          <p:nvPr/>
        </p:nvSpPr>
        <p:spPr>
          <a:xfrm>
            <a:off x="804672" y="3730752"/>
            <a:ext cx="5349240" cy="365760"/>
          </a:xfrm>
          <a:prstGeom prst="rect">
            <a:avLst/>
          </a:prstGeom>
          <a:noFill/>
        </p:spPr>
        <p:txBody>
          <a:bodyPr wrap="square" lIns="0" rIns="0" tIns="0" bIns="0">
            <a:spAutoFit/>
          </a:bodyPr>
          <a:lstStyle/>
          <a:p>
            <a:pPr algn="l">
              <a:defRPr sz="1200" b="0">
                <a:solidFill>
                  <a:srgbClr val="FFFFFF"/>
                </a:solidFill>
                <a:latin typeface="Aptos"/>
              </a:defRPr>
            </a:pPr>
            <a:r>
              <a:t>•  Reconcile an operator inventory with public ICS advisories</a:t>
            </a:r>
          </a:p>
        </p:txBody>
      </p:sp>
      <p:sp>
        <p:nvSpPr>
          <p:cNvPr id="8" name="TextBox 7"/>
          <p:cNvSpPr txBox="1"/>
          <p:nvPr/>
        </p:nvSpPr>
        <p:spPr>
          <a:xfrm>
            <a:off x="804672" y="4233672"/>
            <a:ext cx="5349240" cy="365760"/>
          </a:xfrm>
          <a:prstGeom prst="rect">
            <a:avLst/>
          </a:prstGeom>
          <a:noFill/>
        </p:spPr>
        <p:txBody>
          <a:bodyPr wrap="square" lIns="0" rIns="0" tIns="0" bIns="0">
            <a:spAutoFit/>
          </a:bodyPr>
          <a:lstStyle/>
          <a:p>
            <a:pPr algn="l">
              <a:defRPr sz="1200" b="0">
                <a:solidFill>
                  <a:srgbClr val="FFFFFF"/>
                </a:solidFill>
                <a:latin typeface="Aptos"/>
              </a:defRPr>
            </a:pPr>
            <a:r>
              <a:t>•  Show exact product/version evidence and uncertainty</a:t>
            </a:r>
          </a:p>
        </p:txBody>
      </p:sp>
      <p:sp>
        <p:nvSpPr>
          <p:cNvPr id="9" name="TextBox 8"/>
          <p:cNvSpPr txBox="1"/>
          <p:nvPr/>
        </p:nvSpPr>
        <p:spPr>
          <a:xfrm>
            <a:off x="804672" y="4736592"/>
            <a:ext cx="5349240" cy="365760"/>
          </a:xfrm>
          <a:prstGeom prst="rect">
            <a:avLst/>
          </a:prstGeom>
          <a:noFill/>
        </p:spPr>
        <p:txBody>
          <a:bodyPr wrap="square" lIns="0" rIns="0" tIns="0" bIns="0">
            <a:spAutoFit/>
          </a:bodyPr>
          <a:lstStyle/>
          <a:p>
            <a:pPr algn="l">
              <a:defRPr sz="1200" b="0">
                <a:solidFill>
                  <a:srgbClr val="FFFFFF"/>
                </a:solidFill>
                <a:latin typeface="Aptos"/>
              </a:defRPr>
            </a:pPr>
            <a:r>
              <a:t>•  Keep engineering and approval decisions human-owned</a:t>
            </a:r>
          </a:p>
        </p:txBody>
      </p:sp>
      <p:sp>
        <p:nvSpPr>
          <p:cNvPr id="10" name="TextBox 9"/>
          <p:cNvSpPr txBox="1"/>
          <p:nvPr/>
        </p:nvSpPr>
        <p:spPr>
          <a:xfrm>
            <a:off x="786384" y="6208776"/>
            <a:ext cx="5303520" cy="228600"/>
          </a:xfrm>
          <a:prstGeom prst="rect">
            <a:avLst/>
          </a:prstGeom>
          <a:noFill/>
        </p:spPr>
        <p:txBody>
          <a:bodyPr wrap="square" lIns="0" rIns="0" tIns="0" bIns="0">
            <a:spAutoFit/>
          </a:bodyPr>
          <a:lstStyle/>
          <a:p>
            <a:pPr algn="l">
              <a:defRPr sz="800" b="0">
                <a:solidFill>
                  <a:srgbClr val="9BB3B5"/>
                </a:solidFill>
                <a:latin typeface="Aptos"/>
              </a:defRPr>
            </a:pPr>
            <a:r>
              <a:t>Eureka Hackathon · MVP snapshot 26 Oct 2026</a:t>
            </a:r>
          </a:p>
        </p:txBody>
      </p:sp>
      <p:sp>
        <p:nvSpPr>
          <p:cNvPr id="11" name="Rounded Rectangle 10"/>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3" name="TextBox 12"/>
          <p:cNvSpPr txBox="1"/>
          <p:nvPr/>
        </p:nvSpPr>
        <p:spPr>
          <a:xfrm>
            <a:off x="7150608" y="2414016"/>
            <a:ext cx="4123944" cy="713232"/>
          </a:xfrm>
          <a:prstGeom prst="rect">
            <a:avLst/>
          </a:prstGeom>
          <a:noFill/>
        </p:spPr>
        <p:txBody>
          <a:bodyPr wrap="square" lIns="0" rIns="0" tIns="0" bIns="0">
            <a:spAutoFit/>
          </a:bodyPr>
          <a:lstStyle/>
          <a:p>
            <a:pPr algn="l">
              <a:defRPr sz="2900" b="1">
                <a:solidFill>
                  <a:srgbClr val="8FE0CE"/>
                </a:solidFill>
                <a:latin typeface="Aptos"/>
              </a:defRPr>
            </a:pPr>
            <a:r>
              <a:t>READ-ONLY</a:t>
            </a:r>
          </a:p>
        </p:txBody>
      </p:sp>
      <p:sp>
        <p:nvSpPr>
          <p:cNvPr id="14" name="TextBox 13"/>
          <p:cNvSpPr txBox="1"/>
          <p:nvPr/>
        </p:nvSpPr>
        <p:spPr>
          <a:xfrm>
            <a:off x="7150608" y="3136392"/>
            <a:ext cx="4123944" cy="548640"/>
          </a:xfrm>
          <a:prstGeom prst="rect">
            <a:avLst/>
          </a:prstGeom>
          <a:noFill/>
        </p:spPr>
        <p:txBody>
          <a:bodyPr wrap="square" lIns="0" rIns="0" tIns="0" bIns="0">
            <a:spAutoFit/>
          </a:bodyPr>
          <a:lstStyle/>
          <a:p>
            <a:pPr algn="l">
              <a:defRPr sz="1200" b="0">
                <a:solidFill>
                  <a:srgbClr val="D0E0DF"/>
                </a:solidFill>
                <a:latin typeface="Aptos"/>
              </a:defRPr>
            </a:pPr>
            <a:r>
              <a:t>No OT interaction in this MVP</a:t>
            </a:r>
          </a:p>
        </p:txBody>
      </p:sp>
      <p:sp>
        <p:nvSpPr>
          <p:cNvPr id="15" name="Rectangle 14"/>
          <p:cNvSpPr/>
          <p:nvPr/>
        </p:nvSpPr>
        <p:spPr>
          <a:xfrm>
            <a:off x="7178040" y="4014215"/>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5783" y="3968496"/>
            <a:ext cx="3904487" cy="329184"/>
          </a:xfrm>
          <a:prstGeom prst="rect">
            <a:avLst/>
          </a:prstGeom>
          <a:noFill/>
        </p:spPr>
        <p:txBody>
          <a:bodyPr wrap="square" lIns="0" rIns="0" tIns="0" bIns="0">
            <a:spAutoFit/>
          </a:bodyPr>
          <a:lstStyle/>
          <a:p>
            <a:pPr algn="l">
              <a:defRPr sz="1000" b="0">
                <a:solidFill>
                  <a:srgbClr val="FFFFFF"/>
                </a:solidFill>
                <a:latin typeface="Aptos"/>
              </a:defRPr>
            </a:pPr>
            <a:r>
              <a:t>80 fictional assets</a:t>
            </a:r>
          </a:p>
        </p:txBody>
      </p:sp>
      <p:sp>
        <p:nvSpPr>
          <p:cNvPr id="17" name="Rectangle 16"/>
          <p:cNvSpPr/>
          <p:nvPr/>
        </p:nvSpPr>
        <p:spPr>
          <a:xfrm>
            <a:off x="7178040" y="4507992"/>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5783" y="4462272"/>
            <a:ext cx="3904487" cy="329184"/>
          </a:xfrm>
          <a:prstGeom prst="rect">
            <a:avLst/>
          </a:prstGeom>
          <a:noFill/>
        </p:spPr>
        <p:txBody>
          <a:bodyPr wrap="square" lIns="0" rIns="0" tIns="0" bIns="0">
            <a:spAutoFit/>
          </a:bodyPr>
          <a:lstStyle/>
          <a:p>
            <a:pPr algn="l">
              <a:defRPr sz="1000" b="0">
                <a:solidFill>
                  <a:srgbClr val="FFFFFF"/>
                </a:solidFill>
                <a:latin typeface="Aptos"/>
              </a:defRPr>
            </a:pPr>
            <a:r>
              <a:t>3 real CISA advisories</a:t>
            </a:r>
          </a:p>
        </p:txBody>
      </p:sp>
      <p:sp>
        <p:nvSpPr>
          <p:cNvPr id="19" name="Rectangle 18"/>
          <p:cNvSpPr/>
          <p:nvPr/>
        </p:nvSpPr>
        <p:spPr>
          <a:xfrm>
            <a:off x="7178040" y="5001768"/>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15783" y="4956048"/>
            <a:ext cx="3904487" cy="329184"/>
          </a:xfrm>
          <a:prstGeom prst="rect">
            <a:avLst/>
          </a:prstGeom>
          <a:noFill/>
        </p:spPr>
        <p:txBody>
          <a:bodyPr wrap="square" lIns="0" rIns="0" tIns="0" bIns="0">
            <a:spAutoFit/>
          </a:bodyPr>
          <a:lstStyle/>
          <a:p>
            <a:pPr algn="l">
              <a:defRPr sz="1000" b="0">
                <a:solidFill>
                  <a:srgbClr val="FFFFFF"/>
                </a:solidFill>
                <a:latin typeface="Aptos"/>
              </a:defRPr>
            </a:pPr>
            <a:r>
              <a:t>Offline-ready 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02</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The review gap lives between two records</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An advisory lists products and versions. An operator owns assets, maintenance context, and change decisions.</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Inventory identifiers and advisory product language often differ</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A version match can be exact, excluded, or impossible to confirm</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Teams must preserve the source and explain what they decided</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TextBox 16"/>
          <p:cNvSpPr txBox="1"/>
          <p:nvPr/>
        </p:nvSpPr>
        <p:spPr>
          <a:xfrm>
            <a:off x="7150608" y="2414016"/>
            <a:ext cx="4123944" cy="713232"/>
          </a:xfrm>
          <a:prstGeom prst="rect">
            <a:avLst/>
          </a:prstGeom>
          <a:noFill/>
        </p:spPr>
        <p:txBody>
          <a:bodyPr wrap="square" lIns="0" rIns="0" tIns="0" bIns="0">
            <a:spAutoFit/>
          </a:bodyPr>
          <a:lstStyle/>
          <a:p>
            <a:pPr algn="l">
              <a:defRPr sz="2900" b="1">
                <a:solidFill>
                  <a:srgbClr val="8FE0CE"/>
                </a:solidFill>
                <a:latin typeface="Aptos"/>
              </a:defRPr>
            </a:pPr>
            <a:r>
              <a:t>3 RECORDS</a:t>
            </a:r>
          </a:p>
        </p:txBody>
      </p:sp>
      <p:sp>
        <p:nvSpPr>
          <p:cNvPr id="18" name="TextBox 17"/>
          <p:cNvSpPr txBox="1"/>
          <p:nvPr/>
        </p:nvSpPr>
        <p:spPr>
          <a:xfrm>
            <a:off x="7150608" y="3136392"/>
            <a:ext cx="4123944" cy="548640"/>
          </a:xfrm>
          <a:prstGeom prst="rect">
            <a:avLst/>
          </a:prstGeom>
          <a:noFill/>
        </p:spPr>
        <p:txBody>
          <a:bodyPr wrap="square" lIns="0" rIns="0" tIns="0" bIns="0">
            <a:spAutoFit/>
          </a:bodyPr>
          <a:lstStyle/>
          <a:p>
            <a:pPr algn="l">
              <a:defRPr sz="1200" b="0">
                <a:solidFill>
                  <a:srgbClr val="D0E0DF"/>
                </a:solidFill>
                <a:latin typeface="Aptos"/>
              </a:defRPr>
            </a:pPr>
            <a:r>
              <a:t>Inventory · advisory · remediation evidence</a:t>
            </a:r>
          </a:p>
        </p:txBody>
      </p:sp>
      <p:sp>
        <p:nvSpPr>
          <p:cNvPr id="19" name="Rectangle 18"/>
          <p:cNvSpPr/>
          <p:nvPr/>
        </p:nvSpPr>
        <p:spPr>
          <a:xfrm>
            <a:off x="7178040" y="4014215"/>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15783" y="3968496"/>
            <a:ext cx="3904487" cy="329184"/>
          </a:xfrm>
          <a:prstGeom prst="rect">
            <a:avLst/>
          </a:prstGeom>
          <a:noFill/>
        </p:spPr>
        <p:txBody>
          <a:bodyPr wrap="square" lIns="0" rIns="0" tIns="0" bIns="0">
            <a:spAutoFit/>
          </a:bodyPr>
          <a:lstStyle/>
          <a:p>
            <a:pPr algn="l">
              <a:defRPr sz="1000" b="0">
                <a:solidFill>
                  <a:srgbClr val="FFFFFF"/>
                </a:solidFill>
                <a:latin typeface="Aptos"/>
              </a:defRPr>
            </a:pPr>
            <a:r>
              <a:t>Asset inventory</a:t>
            </a:r>
          </a:p>
        </p:txBody>
      </p:sp>
      <p:sp>
        <p:nvSpPr>
          <p:cNvPr id="21" name="Rectangle 20"/>
          <p:cNvSpPr/>
          <p:nvPr/>
        </p:nvSpPr>
        <p:spPr>
          <a:xfrm>
            <a:off x="7178040" y="4507992"/>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5783" y="4462272"/>
            <a:ext cx="3904487" cy="329184"/>
          </a:xfrm>
          <a:prstGeom prst="rect">
            <a:avLst/>
          </a:prstGeom>
          <a:noFill/>
        </p:spPr>
        <p:txBody>
          <a:bodyPr wrap="square" lIns="0" rIns="0" tIns="0" bIns="0">
            <a:spAutoFit/>
          </a:bodyPr>
          <a:lstStyle/>
          <a:p>
            <a:pPr algn="l">
              <a:defRPr sz="1000" b="0">
                <a:solidFill>
                  <a:srgbClr val="FFFFFF"/>
                </a:solidFill>
                <a:latin typeface="Aptos"/>
              </a:defRPr>
            </a:pPr>
            <a:r>
              <a:t>Public advisory</a:t>
            </a:r>
          </a:p>
        </p:txBody>
      </p:sp>
      <p:sp>
        <p:nvSpPr>
          <p:cNvPr id="23" name="Rectangle 22"/>
          <p:cNvSpPr/>
          <p:nvPr/>
        </p:nvSpPr>
        <p:spPr>
          <a:xfrm>
            <a:off x="7178040" y="5001768"/>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783" y="4956048"/>
            <a:ext cx="3904487" cy="329184"/>
          </a:xfrm>
          <a:prstGeom prst="rect">
            <a:avLst/>
          </a:prstGeom>
          <a:noFill/>
        </p:spPr>
        <p:txBody>
          <a:bodyPr wrap="square" lIns="0" rIns="0" tIns="0" bIns="0">
            <a:spAutoFit/>
          </a:bodyPr>
          <a:lstStyle/>
          <a:p>
            <a:pPr algn="l">
              <a:defRPr sz="1000" b="0">
                <a:solidFill>
                  <a:srgbClr val="FFFFFF"/>
                </a:solidFill>
                <a:latin typeface="Aptos"/>
              </a:defRPr>
            </a:pPr>
            <a:r>
              <a:t>Engineering record</a:t>
            </a:r>
          </a:p>
        </p:txBody>
      </p:sp>
      <p:sp>
        <p:nvSpPr>
          <p:cNvPr id="25" name="TextBox 24"/>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NIST SP 800-82 Rev. 3 final · https://csrc.nist.gov/pubs/sp/800/82/r3/final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03</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Critical infrastructure needs cautious handling</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Water, energy, oil and gas, and industrial operators balance security with continuity, safety, and maintenance constraints.</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A vulnerability label alone does not prove local applicability</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A patch suggestion is not an approved operational change</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Human review and source traceability belong in the workflow</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TextBox 16"/>
          <p:cNvSpPr txBox="1"/>
          <p:nvPr/>
        </p:nvSpPr>
        <p:spPr>
          <a:xfrm>
            <a:off x="7150608" y="2414016"/>
            <a:ext cx="4123944" cy="713232"/>
          </a:xfrm>
          <a:prstGeom prst="rect">
            <a:avLst/>
          </a:prstGeom>
          <a:noFill/>
        </p:spPr>
        <p:txBody>
          <a:bodyPr wrap="square" lIns="0" rIns="0" tIns="0" bIns="0">
            <a:spAutoFit/>
          </a:bodyPr>
          <a:lstStyle/>
          <a:p>
            <a:pPr algn="l">
              <a:defRPr sz="2900" b="1">
                <a:solidFill>
                  <a:srgbClr val="8FE0CE"/>
                </a:solidFill>
                <a:latin typeface="Aptos"/>
              </a:defRPr>
            </a:pPr>
            <a:r>
              <a:t>NO DEVICE</a:t>
            </a:r>
          </a:p>
        </p:txBody>
      </p:sp>
      <p:sp>
        <p:nvSpPr>
          <p:cNvPr id="18" name="TextBox 17"/>
          <p:cNvSpPr txBox="1"/>
          <p:nvPr/>
        </p:nvSpPr>
        <p:spPr>
          <a:xfrm>
            <a:off x="7150608" y="3136392"/>
            <a:ext cx="4123944" cy="548640"/>
          </a:xfrm>
          <a:prstGeom prst="rect">
            <a:avLst/>
          </a:prstGeom>
          <a:noFill/>
        </p:spPr>
        <p:txBody>
          <a:bodyPr wrap="square" lIns="0" rIns="0" tIns="0" bIns="0">
            <a:spAutoFit/>
          </a:bodyPr>
          <a:lstStyle/>
          <a:p>
            <a:pPr algn="l">
              <a:defRPr sz="1200" b="0">
                <a:solidFill>
                  <a:srgbClr val="D0E0DF"/>
                </a:solidFill>
                <a:latin typeface="Aptos"/>
              </a:defRPr>
            </a:pPr>
            <a:r>
              <a:t>Discovery or configuration change</a:t>
            </a:r>
          </a:p>
        </p:txBody>
      </p:sp>
      <p:sp>
        <p:nvSpPr>
          <p:cNvPr id="19" name="Rectangle 18"/>
          <p:cNvSpPr/>
          <p:nvPr/>
        </p:nvSpPr>
        <p:spPr>
          <a:xfrm>
            <a:off x="7178040" y="4014215"/>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15783" y="3968496"/>
            <a:ext cx="3904487" cy="329184"/>
          </a:xfrm>
          <a:prstGeom prst="rect">
            <a:avLst/>
          </a:prstGeom>
          <a:noFill/>
        </p:spPr>
        <p:txBody>
          <a:bodyPr wrap="square" lIns="0" rIns="0" tIns="0" bIns="0">
            <a:spAutoFit/>
          </a:bodyPr>
          <a:lstStyle/>
          <a:p>
            <a:pPr algn="l">
              <a:defRPr sz="1000" b="0">
                <a:solidFill>
                  <a:srgbClr val="FFFFFF"/>
                </a:solidFill>
                <a:latin typeface="Aptos"/>
              </a:defRPr>
            </a:pPr>
            <a:r>
              <a:t>File-based inventory</a:t>
            </a:r>
          </a:p>
        </p:txBody>
      </p:sp>
      <p:sp>
        <p:nvSpPr>
          <p:cNvPr id="21" name="Rectangle 20"/>
          <p:cNvSpPr/>
          <p:nvPr/>
        </p:nvSpPr>
        <p:spPr>
          <a:xfrm>
            <a:off x="7178040" y="4507992"/>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5783" y="4462272"/>
            <a:ext cx="3904487" cy="329184"/>
          </a:xfrm>
          <a:prstGeom prst="rect">
            <a:avLst/>
          </a:prstGeom>
          <a:noFill/>
        </p:spPr>
        <p:txBody>
          <a:bodyPr wrap="square" lIns="0" rIns="0" tIns="0" bIns="0">
            <a:spAutoFit/>
          </a:bodyPr>
          <a:lstStyle/>
          <a:p>
            <a:pPr algn="l">
              <a:defRPr sz="1000" b="0">
                <a:solidFill>
                  <a:srgbClr val="FFFFFF"/>
                </a:solidFill>
                <a:latin typeface="Aptos"/>
              </a:defRPr>
            </a:pPr>
            <a:r>
              <a:t>Public source egress</a:t>
            </a:r>
          </a:p>
        </p:txBody>
      </p:sp>
      <p:sp>
        <p:nvSpPr>
          <p:cNvPr id="23" name="Rectangle 22"/>
          <p:cNvSpPr/>
          <p:nvPr/>
        </p:nvSpPr>
        <p:spPr>
          <a:xfrm>
            <a:off x="7178040" y="5001768"/>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783" y="4956048"/>
            <a:ext cx="3904487" cy="329184"/>
          </a:xfrm>
          <a:prstGeom prst="rect">
            <a:avLst/>
          </a:prstGeom>
          <a:noFill/>
        </p:spPr>
        <p:txBody>
          <a:bodyPr wrap="square" lIns="0" rIns="0" tIns="0" bIns="0">
            <a:spAutoFit/>
          </a:bodyPr>
          <a:lstStyle/>
          <a:p>
            <a:pPr algn="l">
              <a:defRPr sz="1000" b="0">
                <a:solidFill>
                  <a:srgbClr val="FFFFFF"/>
                </a:solidFill>
                <a:latin typeface="Aptos"/>
              </a:defRPr>
            </a:pPr>
            <a:r>
              <a:t>Human-led review</a:t>
            </a:r>
          </a:p>
        </p:txBody>
      </p:sp>
      <p:sp>
        <p:nvSpPr>
          <p:cNvPr id="25" name="TextBox 24"/>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NIST SP 800-82 Rev. 3 final; Rev. 4 remains an initial public draft as of 26 Oct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04</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One auditable workflow from import to assurance</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A repeatable sequence connects a source statement to an engineering decision and evidence record.</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Validate inventory and import approved public advisory data</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Compare vendor, product, configuration, and version constraints</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Record review, ticket approval, evidence, and verification</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Rounded Rectangle 16"/>
          <p:cNvSpPr/>
          <p:nvPr/>
        </p:nvSpPr>
        <p:spPr>
          <a:xfrm>
            <a:off x="7178040" y="2441448"/>
            <a:ext cx="438912" cy="38404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78040" y="2514600"/>
            <a:ext cx="438912" cy="228600"/>
          </a:xfrm>
          <a:prstGeom prst="rect">
            <a:avLst/>
          </a:prstGeom>
          <a:noFill/>
        </p:spPr>
        <p:txBody>
          <a:bodyPr wrap="square" lIns="0" rIns="0" tIns="0" bIns="0">
            <a:spAutoFit/>
          </a:bodyPr>
          <a:lstStyle/>
          <a:p>
            <a:pPr algn="ctr">
              <a:defRPr sz="1100" b="1">
                <a:solidFill>
                  <a:srgbClr val="FFFFFF"/>
                </a:solidFill>
                <a:latin typeface="Aptos"/>
              </a:defRPr>
            </a:pPr>
            <a:r>
              <a:t>1</a:t>
            </a:r>
          </a:p>
        </p:txBody>
      </p:sp>
      <p:sp>
        <p:nvSpPr>
          <p:cNvPr id="19" name="TextBox 18"/>
          <p:cNvSpPr txBox="1"/>
          <p:nvPr/>
        </p:nvSpPr>
        <p:spPr>
          <a:xfrm>
            <a:off x="7818120" y="2514600"/>
            <a:ext cx="3291840" cy="228600"/>
          </a:xfrm>
          <a:prstGeom prst="rect">
            <a:avLst/>
          </a:prstGeom>
          <a:noFill/>
        </p:spPr>
        <p:txBody>
          <a:bodyPr wrap="square" lIns="0" rIns="0" tIns="0" bIns="0">
            <a:spAutoFit/>
          </a:bodyPr>
          <a:lstStyle/>
          <a:p>
            <a:pPr algn="l">
              <a:defRPr sz="1100" b="1">
                <a:solidFill>
                  <a:srgbClr val="FFFFFF"/>
                </a:solidFill>
                <a:latin typeface="Aptos"/>
              </a:defRPr>
            </a:pPr>
            <a:r>
              <a:t>IMPORT</a:t>
            </a:r>
          </a:p>
        </p:txBody>
      </p:sp>
      <p:sp>
        <p:nvSpPr>
          <p:cNvPr id="20" name="Rounded Rectangle 19"/>
          <p:cNvSpPr/>
          <p:nvPr/>
        </p:nvSpPr>
        <p:spPr>
          <a:xfrm>
            <a:off x="7178040" y="2953512"/>
            <a:ext cx="438912" cy="38404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3026664"/>
            <a:ext cx="438912" cy="228600"/>
          </a:xfrm>
          <a:prstGeom prst="rect">
            <a:avLst/>
          </a:prstGeom>
          <a:noFill/>
        </p:spPr>
        <p:txBody>
          <a:bodyPr wrap="square" lIns="0" rIns="0" tIns="0" bIns="0">
            <a:spAutoFit/>
          </a:bodyPr>
          <a:lstStyle/>
          <a:p>
            <a:pPr algn="ctr">
              <a:defRPr sz="1100" b="1">
                <a:solidFill>
                  <a:srgbClr val="FFFFFF"/>
                </a:solidFill>
                <a:latin typeface="Aptos"/>
              </a:defRPr>
            </a:pPr>
            <a:r>
              <a:t>2</a:t>
            </a:r>
          </a:p>
        </p:txBody>
      </p:sp>
      <p:sp>
        <p:nvSpPr>
          <p:cNvPr id="22" name="TextBox 21"/>
          <p:cNvSpPr txBox="1"/>
          <p:nvPr/>
        </p:nvSpPr>
        <p:spPr>
          <a:xfrm>
            <a:off x="7818120" y="3026664"/>
            <a:ext cx="3291840" cy="228600"/>
          </a:xfrm>
          <a:prstGeom prst="rect">
            <a:avLst/>
          </a:prstGeom>
          <a:noFill/>
        </p:spPr>
        <p:txBody>
          <a:bodyPr wrap="square" lIns="0" rIns="0" tIns="0" bIns="0">
            <a:spAutoFit/>
          </a:bodyPr>
          <a:lstStyle/>
          <a:p>
            <a:pPr algn="l">
              <a:defRPr sz="1100" b="1">
                <a:solidFill>
                  <a:srgbClr val="FFFFFF"/>
                </a:solidFill>
                <a:latin typeface="Aptos"/>
              </a:defRPr>
            </a:pPr>
            <a:r>
              <a:t>MATCH</a:t>
            </a:r>
          </a:p>
        </p:txBody>
      </p:sp>
      <p:sp>
        <p:nvSpPr>
          <p:cNvPr id="23" name="Rounded Rectangle 22"/>
          <p:cNvSpPr/>
          <p:nvPr/>
        </p:nvSpPr>
        <p:spPr>
          <a:xfrm>
            <a:off x="7178040" y="3465576"/>
            <a:ext cx="438912" cy="38404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78040" y="3538728"/>
            <a:ext cx="438912" cy="228600"/>
          </a:xfrm>
          <a:prstGeom prst="rect">
            <a:avLst/>
          </a:prstGeom>
          <a:noFill/>
        </p:spPr>
        <p:txBody>
          <a:bodyPr wrap="square" lIns="0" rIns="0" tIns="0" bIns="0">
            <a:spAutoFit/>
          </a:bodyPr>
          <a:lstStyle/>
          <a:p>
            <a:pPr algn="ctr">
              <a:defRPr sz="1100" b="1">
                <a:solidFill>
                  <a:srgbClr val="FFFFFF"/>
                </a:solidFill>
                <a:latin typeface="Aptos"/>
              </a:defRPr>
            </a:pPr>
            <a:r>
              <a:t>3</a:t>
            </a:r>
          </a:p>
        </p:txBody>
      </p:sp>
      <p:sp>
        <p:nvSpPr>
          <p:cNvPr id="25" name="TextBox 24"/>
          <p:cNvSpPr txBox="1"/>
          <p:nvPr/>
        </p:nvSpPr>
        <p:spPr>
          <a:xfrm>
            <a:off x="7818120" y="3538728"/>
            <a:ext cx="3291840" cy="228600"/>
          </a:xfrm>
          <a:prstGeom prst="rect">
            <a:avLst/>
          </a:prstGeom>
          <a:noFill/>
        </p:spPr>
        <p:txBody>
          <a:bodyPr wrap="square" lIns="0" rIns="0" tIns="0" bIns="0">
            <a:spAutoFit/>
          </a:bodyPr>
          <a:lstStyle/>
          <a:p>
            <a:pPr algn="l">
              <a:defRPr sz="1100" b="1">
                <a:solidFill>
                  <a:srgbClr val="FFFFFF"/>
                </a:solidFill>
                <a:latin typeface="Aptos"/>
              </a:defRPr>
            </a:pPr>
            <a:r>
              <a:t>REVIEW</a:t>
            </a:r>
          </a:p>
        </p:txBody>
      </p:sp>
      <p:sp>
        <p:nvSpPr>
          <p:cNvPr id="26" name="Rounded Rectangle 25"/>
          <p:cNvSpPr/>
          <p:nvPr/>
        </p:nvSpPr>
        <p:spPr>
          <a:xfrm>
            <a:off x="7178040" y="3977639"/>
            <a:ext cx="438912" cy="38404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78040" y="4050791"/>
            <a:ext cx="438912" cy="228600"/>
          </a:xfrm>
          <a:prstGeom prst="rect">
            <a:avLst/>
          </a:prstGeom>
          <a:noFill/>
        </p:spPr>
        <p:txBody>
          <a:bodyPr wrap="square" lIns="0" rIns="0" tIns="0" bIns="0">
            <a:spAutoFit/>
          </a:bodyPr>
          <a:lstStyle/>
          <a:p>
            <a:pPr algn="ctr">
              <a:defRPr sz="1100" b="1">
                <a:solidFill>
                  <a:srgbClr val="FFFFFF"/>
                </a:solidFill>
                <a:latin typeface="Aptos"/>
              </a:defRPr>
            </a:pPr>
            <a:r>
              <a:t>4</a:t>
            </a:r>
          </a:p>
        </p:txBody>
      </p:sp>
      <p:sp>
        <p:nvSpPr>
          <p:cNvPr id="28" name="TextBox 27"/>
          <p:cNvSpPr txBox="1"/>
          <p:nvPr/>
        </p:nvSpPr>
        <p:spPr>
          <a:xfrm>
            <a:off x="7818120" y="4050791"/>
            <a:ext cx="3291840" cy="228600"/>
          </a:xfrm>
          <a:prstGeom prst="rect">
            <a:avLst/>
          </a:prstGeom>
          <a:noFill/>
        </p:spPr>
        <p:txBody>
          <a:bodyPr wrap="square" lIns="0" rIns="0" tIns="0" bIns="0">
            <a:spAutoFit/>
          </a:bodyPr>
          <a:lstStyle/>
          <a:p>
            <a:pPr algn="l">
              <a:defRPr sz="1100" b="1">
                <a:solidFill>
                  <a:srgbClr val="FFFFFF"/>
                </a:solidFill>
                <a:latin typeface="Aptos"/>
              </a:defRPr>
            </a:pPr>
            <a:r>
              <a:t>PLAN</a:t>
            </a:r>
          </a:p>
        </p:txBody>
      </p:sp>
      <p:sp>
        <p:nvSpPr>
          <p:cNvPr id="29" name="Rounded Rectangle 28"/>
          <p:cNvSpPr/>
          <p:nvPr/>
        </p:nvSpPr>
        <p:spPr>
          <a:xfrm>
            <a:off x="7178040" y="4489704"/>
            <a:ext cx="438912" cy="38404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78040" y="4562856"/>
            <a:ext cx="438912" cy="228600"/>
          </a:xfrm>
          <a:prstGeom prst="rect">
            <a:avLst/>
          </a:prstGeom>
          <a:noFill/>
        </p:spPr>
        <p:txBody>
          <a:bodyPr wrap="square" lIns="0" rIns="0" tIns="0" bIns="0">
            <a:spAutoFit/>
          </a:bodyPr>
          <a:lstStyle/>
          <a:p>
            <a:pPr algn="ctr">
              <a:defRPr sz="1100" b="1">
                <a:solidFill>
                  <a:srgbClr val="FFFFFF"/>
                </a:solidFill>
                <a:latin typeface="Aptos"/>
              </a:defRPr>
            </a:pPr>
            <a:r>
              <a:t>5</a:t>
            </a:r>
          </a:p>
        </p:txBody>
      </p:sp>
      <p:sp>
        <p:nvSpPr>
          <p:cNvPr id="31" name="TextBox 30"/>
          <p:cNvSpPr txBox="1"/>
          <p:nvPr/>
        </p:nvSpPr>
        <p:spPr>
          <a:xfrm>
            <a:off x="7818120" y="4562856"/>
            <a:ext cx="3291840" cy="228600"/>
          </a:xfrm>
          <a:prstGeom prst="rect">
            <a:avLst/>
          </a:prstGeom>
          <a:noFill/>
        </p:spPr>
        <p:txBody>
          <a:bodyPr wrap="square" lIns="0" rIns="0" tIns="0" bIns="0">
            <a:spAutoFit/>
          </a:bodyPr>
          <a:lstStyle/>
          <a:p>
            <a:pPr algn="l">
              <a:defRPr sz="1100" b="1">
                <a:solidFill>
                  <a:srgbClr val="FFFFFF"/>
                </a:solidFill>
                <a:latin typeface="Aptos"/>
              </a:defRPr>
            </a:pPr>
            <a:r>
              <a:t>EVIDENCE</a:t>
            </a:r>
          </a:p>
        </p:txBody>
      </p:sp>
      <p:sp>
        <p:nvSpPr>
          <p:cNvPr id="32" name="Rounded Rectangle 31"/>
          <p:cNvSpPr/>
          <p:nvPr/>
        </p:nvSpPr>
        <p:spPr>
          <a:xfrm>
            <a:off x="7178040" y="5001768"/>
            <a:ext cx="438912" cy="38404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78040" y="5074920"/>
            <a:ext cx="438912" cy="228600"/>
          </a:xfrm>
          <a:prstGeom prst="rect">
            <a:avLst/>
          </a:prstGeom>
          <a:noFill/>
        </p:spPr>
        <p:txBody>
          <a:bodyPr wrap="square" lIns="0" rIns="0" tIns="0" bIns="0">
            <a:spAutoFit/>
          </a:bodyPr>
          <a:lstStyle/>
          <a:p>
            <a:pPr algn="ctr">
              <a:defRPr sz="1100" b="1">
                <a:solidFill>
                  <a:srgbClr val="FFFFFF"/>
                </a:solidFill>
                <a:latin typeface="Aptos"/>
              </a:defRPr>
            </a:pPr>
            <a:r>
              <a:t>6</a:t>
            </a:r>
          </a:p>
        </p:txBody>
      </p:sp>
      <p:sp>
        <p:nvSpPr>
          <p:cNvPr id="34" name="TextBox 33"/>
          <p:cNvSpPr txBox="1"/>
          <p:nvPr/>
        </p:nvSpPr>
        <p:spPr>
          <a:xfrm>
            <a:off x="7818120" y="5074920"/>
            <a:ext cx="3291840" cy="228600"/>
          </a:xfrm>
          <a:prstGeom prst="rect">
            <a:avLst/>
          </a:prstGeom>
          <a:noFill/>
        </p:spPr>
        <p:txBody>
          <a:bodyPr wrap="square" lIns="0" rIns="0" tIns="0" bIns="0">
            <a:spAutoFit/>
          </a:bodyPr>
          <a:lstStyle/>
          <a:p>
            <a:pPr algn="l">
              <a:defRPr sz="1100" b="1">
                <a:solidFill>
                  <a:srgbClr val="FFFFFF"/>
                </a:solidFill>
                <a:latin typeface="Aptos"/>
              </a:defRPr>
            </a:pPr>
            <a:r>
              <a:t>VERIFY</a:t>
            </a:r>
          </a:p>
        </p:txBody>
      </p:sp>
      <p:sp>
        <p:nvSpPr>
          <p:cNvPr id="35" name="TextBox 34"/>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End-to-end journey is implemented in the MVP dashboard and API.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05</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Demo: three assets, three distinct outcomes</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A CISA FactoryTalk View advisory exposes why version and inventory quality matter.</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FactoryTalk View SE 13.0.0 → applicable candidate</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FactoryTalk View SE 14.0 → outside the exact affected version</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Same product with missing firmware → engineering review</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TextBox 16"/>
          <p:cNvSpPr txBox="1"/>
          <p:nvPr/>
        </p:nvSpPr>
        <p:spPr>
          <a:xfrm>
            <a:off x="7150608" y="2414016"/>
            <a:ext cx="4123944" cy="713232"/>
          </a:xfrm>
          <a:prstGeom prst="rect">
            <a:avLst/>
          </a:prstGeom>
          <a:noFill/>
        </p:spPr>
        <p:txBody>
          <a:bodyPr wrap="square" lIns="0" rIns="0" tIns="0" bIns="0">
            <a:spAutoFit/>
          </a:bodyPr>
          <a:lstStyle/>
          <a:p>
            <a:pPr algn="l">
              <a:defRPr sz="2900" b="1">
                <a:solidFill>
                  <a:srgbClr val="8FE0CE"/>
                </a:solidFill>
                <a:latin typeface="Aptos"/>
              </a:defRPr>
            </a:pPr>
            <a:r>
              <a:t>ICSA-24-226-06</a:t>
            </a:r>
          </a:p>
        </p:txBody>
      </p:sp>
      <p:sp>
        <p:nvSpPr>
          <p:cNvPr id="18" name="TextBox 17"/>
          <p:cNvSpPr txBox="1"/>
          <p:nvPr/>
        </p:nvSpPr>
        <p:spPr>
          <a:xfrm>
            <a:off x="7150608" y="3136392"/>
            <a:ext cx="4123944" cy="548640"/>
          </a:xfrm>
          <a:prstGeom prst="rect">
            <a:avLst/>
          </a:prstGeom>
          <a:noFill/>
        </p:spPr>
        <p:txBody>
          <a:bodyPr wrap="square" lIns="0" rIns="0" tIns="0" bIns="0">
            <a:spAutoFit/>
          </a:bodyPr>
          <a:lstStyle/>
          <a:p>
            <a:pPr algn="l">
              <a:defRPr sz="1200" b="0">
                <a:solidFill>
                  <a:srgbClr val="D0E0DF"/>
                </a:solidFill>
                <a:latin typeface="Aptos"/>
              </a:defRPr>
            </a:pPr>
            <a:r>
              <a:t>CISA · published 13 Aug 2024 · updated 29 Aug 2024</a:t>
            </a:r>
          </a:p>
        </p:txBody>
      </p:sp>
      <p:sp>
        <p:nvSpPr>
          <p:cNvPr id="19" name="Rectangle 18"/>
          <p:cNvSpPr/>
          <p:nvPr/>
        </p:nvSpPr>
        <p:spPr>
          <a:xfrm>
            <a:off x="7178040" y="4014215"/>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15783" y="3968496"/>
            <a:ext cx="3904487" cy="329184"/>
          </a:xfrm>
          <a:prstGeom prst="rect">
            <a:avLst/>
          </a:prstGeom>
          <a:noFill/>
        </p:spPr>
        <p:txBody>
          <a:bodyPr wrap="square" lIns="0" rIns="0" tIns="0" bIns="0">
            <a:spAutoFit/>
          </a:bodyPr>
          <a:lstStyle/>
          <a:p>
            <a:pPr algn="l">
              <a:defRPr sz="1000" b="0">
                <a:solidFill>
                  <a:srgbClr val="FFFFFF"/>
                </a:solidFill>
                <a:latin typeface="Aptos"/>
              </a:defRPr>
            </a:pPr>
            <a:r>
              <a:t>CVE-2024-7513</a:t>
            </a:r>
          </a:p>
        </p:txBody>
      </p:sp>
      <p:sp>
        <p:nvSpPr>
          <p:cNvPr id="21" name="Rectangle 20"/>
          <p:cNvSpPr/>
          <p:nvPr/>
        </p:nvSpPr>
        <p:spPr>
          <a:xfrm>
            <a:off x="7178040" y="4507992"/>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5783" y="4462272"/>
            <a:ext cx="3904487" cy="329184"/>
          </a:xfrm>
          <a:prstGeom prst="rect">
            <a:avLst/>
          </a:prstGeom>
          <a:noFill/>
        </p:spPr>
        <p:txBody>
          <a:bodyPr wrap="square" lIns="0" rIns="0" tIns="0" bIns="0">
            <a:spAutoFit/>
          </a:bodyPr>
          <a:lstStyle/>
          <a:p>
            <a:pPr algn="l">
              <a:defRPr sz="1000" b="0">
                <a:solidFill>
                  <a:srgbClr val="FFFFFF"/>
                </a:solidFill>
                <a:latin typeface="Aptos"/>
              </a:defRPr>
            </a:pPr>
            <a:r>
              <a:t>Source statement: version 13.0</a:t>
            </a:r>
          </a:p>
        </p:txBody>
      </p:sp>
      <p:sp>
        <p:nvSpPr>
          <p:cNvPr id="23" name="Rectangle 22"/>
          <p:cNvSpPr/>
          <p:nvPr/>
        </p:nvSpPr>
        <p:spPr>
          <a:xfrm>
            <a:off x="7178040" y="5001768"/>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783" y="4956048"/>
            <a:ext cx="3904487" cy="329184"/>
          </a:xfrm>
          <a:prstGeom prst="rect">
            <a:avLst/>
          </a:prstGeom>
          <a:noFill/>
        </p:spPr>
        <p:txBody>
          <a:bodyPr wrap="square" lIns="0" rIns="0" tIns="0" bIns="0">
            <a:spAutoFit/>
          </a:bodyPr>
          <a:lstStyle/>
          <a:p>
            <a:pPr algn="l">
              <a:defRPr sz="1000" b="0">
                <a:solidFill>
                  <a:srgbClr val="FFFFFF"/>
                </a:solidFill>
                <a:latin typeface="Aptos"/>
              </a:defRPr>
            </a:pPr>
            <a:r>
              <a:t>Source URL retained</a:t>
            </a:r>
          </a:p>
        </p:txBody>
      </p:sp>
      <p:sp>
        <p:nvSpPr>
          <p:cNvPr id="25" name="TextBox 24"/>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https://www.cisa.gov/news-events/ics-advisories/icsa-24-226-06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06</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Deterministic matching earns each conclusion</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A small ruleset handles explicit source evidence; unsupported cases abstain.</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Normalize only curated vendor and product aliases</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Apply explicit equality and inclusive/exclusive version bounds</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Route ambiguity, stale data, duplicates, and unknown syntax to review</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TextBox 16"/>
          <p:cNvSpPr txBox="1"/>
          <p:nvPr/>
        </p:nvSpPr>
        <p:spPr>
          <a:xfrm>
            <a:off x="7150608" y="2414016"/>
            <a:ext cx="4123944" cy="713232"/>
          </a:xfrm>
          <a:prstGeom prst="rect">
            <a:avLst/>
          </a:prstGeom>
          <a:noFill/>
        </p:spPr>
        <p:txBody>
          <a:bodyPr wrap="square" lIns="0" rIns="0" tIns="0" bIns="0">
            <a:spAutoFit/>
          </a:bodyPr>
          <a:lstStyle/>
          <a:p>
            <a:pPr algn="l">
              <a:defRPr sz="2900" b="1">
                <a:solidFill>
                  <a:srgbClr val="8FE0CE"/>
                </a:solidFill>
                <a:latin typeface="Aptos"/>
              </a:defRPr>
            </a:pPr>
            <a:r>
              <a:t>3 OUTCOMES</a:t>
            </a:r>
          </a:p>
        </p:txBody>
      </p:sp>
      <p:sp>
        <p:nvSpPr>
          <p:cNvPr id="18" name="TextBox 17"/>
          <p:cNvSpPr txBox="1"/>
          <p:nvPr/>
        </p:nvSpPr>
        <p:spPr>
          <a:xfrm>
            <a:off x="7150608" y="3136392"/>
            <a:ext cx="4123944" cy="548640"/>
          </a:xfrm>
          <a:prstGeom prst="rect">
            <a:avLst/>
          </a:prstGeom>
          <a:noFill/>
        </p:spPr>
        <p:txBody>
          <a:bodyPr wrap="square" lIns="0" rIns="0" tIns="0" bIns="0">
            <a:spAutoFit/>
          </a:bodyPr>
          <a:lstStyle/>
          <a:p>
            <a:pPr algn="l">
              <a:defRPr sz="1200" b="0">
                <a:solidFill>
                  <a:srgbClr val="D0E0DF"/>
                </a:solidFill>
                <a:latin typeface="Aptos"/>
              </a:defRPr>
            </a:pPr>
            <a:r>
              <a:t>Applicable · not applicable · manual verification</a:t>
            </a:r>
          </a:p>
        </p:txBody>
      </p:sp>
      <p:sp>
        <p:nvSpPr>
          <p:cNvPr id="19" name="Rectangle 18"/>
          <p:cNvSpPr/>
          <p:nvPr/>
        </p:nvSpPr>
        <p:spPr>
          <a:xfrm>
            <a:off x="7178040" y="4014215"/>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15783" y="3968496"/>
            <a:ext cx="3904487" cy="329184"/>
          </a:xfrm>
          <a:prstGeom prst="rect">
            <a:avLst/>
          </a:prstGeom>
          <a:noFill/>
        </p:spPr>
        <p:txBody>
          <a:bodyPr wrap="square" lIns="0" rIns="0" tIns="0" bIns="0">
            <a:spAutoFit/>
          </a:bodyPr>
          <a:lstStyle/>
          <a:p>
            <a:pPr algn="l">
              <a:defRPr sz="1000" b="0">
                <a:solidFill>
                  <a:srgbClr val="FFFFFF"/>
                </a:solidFill>
                <a:latin typeface="Aptos"/>
              </a:defRPr>
            </a:pPr>
            <a:r>
              <a:t>Exact identity</a:t>
            </a:r>
          </a:p>
        </p:txBody>
      </p:sp>
      <p:sp>
        <p:nvSpPr>
          <p:cNvPr id="21" name="Rectangle 20"/>
          <p:cNvSpPr/>
          <p:nvPr/>
        </p:nvSpPr>
        <p:spPr>
          <a:xfrm>
            <a:off x="7178040" y="4507992"/>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5783" y="4462272"/>
            <a:ext cx="3904487" cy="329184"/>
          </a:xfrm>
          <a:prstGeom prst="rect">
            <a:avLst/>
          </a:prstGeom>
          <a:noFill/>
        </p:spPr>
        <p:txBody>
          <a:bodyPr wrap="square" lIns="0" rIns="0" tIns="0" bIns="0">
            <a:spAutoFit/>
          </a:bodyPr>
          <a:lstStyle/>
          <a:p>
            <a:pPr algn="l">
              <a:defRPr sz="1000" b="0">
                <a:solidFill>
                  <a:srgbClr val="FFFFFF"/>
                </a:solidFill>
                <a:latin typeface="Aptos"/>
              </a:defRPr>
            </a:pPr>
            <a:r>
              <a:t>Published constraint</a:t>
            </a:r>
          </a:p>
        </p:txBody>
      </p:sp>
      <p:sp>
        <p:nvSpPr>
          <p:cNvPr id="23" name="Rectangle 22"/>
          <p:cNvSpPr/>
          <p:nvPr/>
        </p:nvSpPr>
        <p:spPr>
          <a:xfrm>
            <a:off x="7178040" y="5001768"/>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783" y="4956048"/>
            <a:ext cx="3904487" cy="329184"/>
          </a:xfrm>
          <a:prstGeom prst="rect">
            <a:avLst/>
          </a:prstGeom>
          <a:noFill/>
        </p:spPr>
        <p:txBody>
          <a:bodyPr wrap="square" lIns="0" rIns="0" tIns="0" bIns="0">
            <a:spAutoFit/>
          </a:bodyPr>
          <a:lstStyle/>
          <a:p>
            <a:pPr algn="l">
              <a:defRPr sz="1000" b="0">
                <a:solidFill>
                  <a:srgbClr val="FFFFFF"/>
                </a:solidFill>
                <a:latin typeface="Aptos"/>
              </a:defRPr>
            </a:pPr>
            <a:r>
              <a:t>Traceable rationale</a:t>
            </a:r>
          </a:p>
        </p:txBody>
      </p:sp>
      <p:sp>
        <p:nvSpPr>
          <p:cNvPr id="25" name="TextBox 24"/>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Matcher implementation: backend/app/services/matching.py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07</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AI reads advisory text; people decide</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The local model is an optional extraction assistant behind schema and source checks.</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Draft structured vendor, product, CVE, version, and mitigation fields</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Treat embedded advisory instructions as untrusted text</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Keep model output out of applicability and remediation state</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TextBox 16"/>
          <p:cNvSpPr txBox="1"/>
          <p:nvPr/>
        </p:nvSpPr>
        <p:spPr>
          <a:xfrm>
            <a:off x="7150608" y="2414016"/>
            <a:ext cx="4123944" cy="713232"/>
          </a:xfrm>
          <a:prstGeom prst="rect">
            <a:avLst/>
          </a:prstGeom>
          <a:noFill/>
        </p:spPr>
        <p:txBody>
          <a:bodyPr wrap="square" lIns="0" rIns="0" tIns="0" bIns="0">
            <a:spAutoFit/>
          </a:bodyPr>
          <a:lstStyle/>
          <a:p>
            <a:pPr algn="l">
              <a:defRPr sz="2900" b="1">
                <a:solidFill>
                  <a:srgbClr val="8FE0CE"/>
                </a:solidFill>
                <a:latin typeface="Aptos"/>
              </a:defRPr>
            </a:pPr>
            <a:r>
              <a:t>OPTIONAL</a:t>
            </a:r>
          </a:p>
        </p:txBody>
      </p:sp>
      <p:sp>
        <p:nvSpPr>
          <p:cNvPr id="18" name="TextBox 17"/>
          <p:cNvSpPr txBox="1"/>
          <p:nvPr/>
        </p:nvSpPr>
        <p:spPr>
          <a:xfrm>
            <a:off x="7150608" y="3136392"/>
            <a:ext cx="4123944" cy="548640"/>
          </a:xfrm>
          <a:prstGeom prst="rect">
            <a:avLst/>
          </a:prstGeom>
          <a:noFill/>
        </p:spPr>
        <p:txBody>
          <a:bodyPr wrap="square" lIns="0" rIns="0" tIns="0" bIns="0">
            <a:spAutoFit/>
          </a:bodyPr>
          <a:lstStyle/>
          <a:p>
            <a:pPr algn="l">
              <a:defRPr sz="1200" b="0">
                <a:solidFill>
                  <a:srgbClr val="D0E0DF"/>
                </a:solidFill>
                <a:latin typeface="Aptos"/>
              </a:defRPr>
            </a:pPr>
            <a:r>
              <a:t>Local Ollama adapter · no inference run in evaluation</a:t>
            </a:r>
          </a:p>
        </p:txBody>
      </p:sp>
      <p:sp>
        <p:nvSpPr>
          <p:cNvPr id="19" name="Rectangle 18"/>
          <p:cNvSpPr/>
          <p:nvPr/>
        </p:nvSpPr>
        <p:spPr>
          <a:xfrm>
            <a:off x="7178040" y="4014215"/>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15783" y="3968496"/>
            <a:ext cx="3904487" cy="329184"/>
          </a:xfrm>
          <a:prstGeom prst="rect">
            <a:avLst/>
          </a:prstGeom>
          <a:noFill/>
        </p:spPr>
        <p:txBody>
          <a:bodyPr wrap="square" lIns="0" rIns="0" tIns="0" bIns="0">
            <a:spAutoFit/>
          </a:bodyPr>
          <a:lstStyle/>
          <a:p>
            <a:pPr algn="l">
              <a:defRPr sz="1000" b="0">
                <a:solidFill>
                  <a:srgbClr val="FFFFFF"/>
                </a:solidFill>
                <a:latin typeface="Aptos"/>
              </a:defRPr>
            </a:pPr>
            <a:r>
              <a:t>Pydantic schema</a:t>
            </a:r>
          </a:p>
        </p:txBody>
      </p:sp>
      <p:sp>
        <p:nvSpPr>
          <p:cNvPr id="21" name="Rectangle 20"/>
          <p:cNvSpPr/>
          <p:nvPr/>
        </p:nvSpPr>
        <p:spPr>
          <a:xfrm>
            <a:off x="7178040" y="4507992"/>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5783" y="4462272"/>
            <a:ext cx="3904487" cy="329184"/>
          </a:xfrm>
          <a:prstGeom prst="rect">
            <a:avLst/>
          </a:prstGeom>
          <a:noFill/>
        </p:spPr>
        <p:txBody>
          <a:bodyPr wrap="square" lIns="0" rIns="0" tIns="0" bIns="0">
            <a:spAutoFit/>
          </a:bodyPr>
          <a:lstStyle/>
          <a:p>
            <a:pPr algn="l">
              <a:defRPr sz="1000" b="0">
                <a:solidFill>
                  <a:srgbClr val="FFFFFF"/>
                </a:solidFill>
                <a:latin typeface="Aptos"/>
              </a:defRPr>
            </a:pPr>
            <a:r>
              <a:t>Verbatim source evidence</a:t>
            </a:r>
          </a:p>
        </p:txBody>
      </p:sp>
      <p:sp>
        <p:nvSpPr>
          <p:cNvPr id="23" name="Rectangle 22"/>
          <p:cNvSpPr/>
          <p:nvPr/>
        </p:nvSpPr>
        <p:spPr>
          <a:xfrm>
            <a:off x="7178040" y="5001768"/>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783" y="4956048"/>
            <a:ext cx="3904487" cy="329184"/>
          </a:xfrm>
          <a:prstGeom prst="rect">
            <a:avLst/>
          </a:prstGeom>
          <a:noFill/>
        </p:spPr>
        <p:txBody>
          <a:bodyPr wrap="square" lIns="0" rIns="0" tIns="0" bIns="0">
            <a:spAutoFit/>
          </a:bodyPr>
          <a:lstStyle/>
          <a:p>
            <a:pPr algn="l">
              <a:defRPr sz="1000" b="0">
                <a:solidFill>
                  <a:srgbClr val="FFFFFF"/>
                </a:solidFill>
                <a:latin typeface="Aptos"/>
              </a:defRPr>
            </a:pPr>
            <a:r>
              <a:t>Suggestion only</a:t>
            </a:r>
          </a:p>
        </p:txBody>
      </p:sp>
      <p:sp>
        <p:nvSpPr>
          <p:cNvPr id="25" name="TextBox 24"/>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Optional Qwen2.5 7B Instruct model; Apache-2.0 model repo. No weights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08</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A compact architecture keeps evidence close to the decision</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A modular monolith is easier to inspect and package for a controlled first pilot.</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React + TypeScript dashboard, FastAPI + Pydantic service</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PostgreSQL deployment; SQLite for local offline demonstration</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Cached public sources, deterministic matcher, audit and report services</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Rounded Rectangle 16"/>
          <p:cNvSpPr/>
          <p:nvPr/>
        </p:nvSpPr>
        <p:spPr>
          <a:xfrm>
            <a:off x="7196328" y="2505456"/>
            <a:ext cx="1719072" cy="658368"/>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06056" y="2679192"/>
            <a:ext cx="1499616" cy="329184"/>
          </a:xfrm>
          <a:prstGeom prst="rect">
            <a:avLst/>
          </a:prstGeom>
          <a:noFill/>
        </p:spPr>
        <p:txBody>
          <a:bodyPr wrap="square" lIns="0" rIns="0" tIns="0" bIns="0">
            <a:spAutoFit/>
          </a:bodyPr>
          <a:lstStyle/>
          <a:p>
            <a:pPr algn="ctr">
              <a:defRPr sz="900" b="1">
                <a:solidFill>
                  <a:srgbClr val="FFFFFF"/>
                </a:solidFill>
                <a:latin typeface="Aptos"/>
              </a:defRPr>
            </a:pPr>
            <a:r>
              <a:t>INVENTORY + SOURCES</a:t>
            </a:r>
          </a:p>
        </p:txBody>
      </p:sp>
      <p:sp>
        <p:nvSpPr>
          <p:cNvPr id="19" name="Rounded Rectangle 18"/>
          <p:cNvSpPr/>
          <p:nvPr/>
        </p:nvSpPr>
        <p:spPr>
          <a:xfrm>
            <a:off x="9253728" y="2505456"/>
            <a:ext cx="1719072" cy="658368"/>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3456" y="2679192"/>
            <a:ext cx="1499616" cy="329184"/>
          </a:xfrm>
          <a:prstGeom prst="rect">
            <a:avLst/>
          </a:prstGeom>
          <a:noFill/>
        </p:spPr>
        <p:txBody>
          <a:bodyPr wrap="square" lIns="0" rIns="0" tIns="0" bIns="0">
            <a:spAutoFit/>
          </a:bodyPr>
          <a:lstStyle/>
          <a:p>
            <a:pPr algn="ctr">
              <a:defRPr sz="900" b="1">
                <a:solidFill>
                  <a:srgbClr val="FFFFFF"/>
                </a:solidFill>
                <a:latin typeface="Aptos"/>
              </a:defRPr>
            </a:pPr>
            <a:r>
              <a:t>VALIDATION + CACHE</a:t>
            </a:r>
          </a:p>
        </p:txBody>
      </p:sp>
      <p:sp>
        <p:nvSpPr>
          <p:cNvPr id="21" name="Rounded Rectangle 20"/>
          <p:cNvSpPr/>
          <p:nvPr/>
        </p:nvSpPr>
        <p:spPr>
          <a:xfrm>
            <a:off x="7196328" y="3739896"/>
            <a:ext cx="1719072" cy="658368"/>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06056" y="3913632"/>
            <a:ext cx="1499616" cy="329184"/>
          </a:xfrm>
          <a:prstGeom prst="rect">
            <a:avLst/>
          </a:prstGeom>
          <a:noFill/>
        </p:spPr>
        <p:txBody>
          <a:bodyPr wrap="square" lIns="0" rIns="0" tIns="0" bIns="0">
            <a:spAutoFit/>
          </a:bodyPr>
          <a:lstStyle/>
          <a:p>
            <a:pPr algn="ctr">
              <a:defRPr sz="900" b="1">
                <a:solidFill>
                  <a:srgbClr val="FFFFFF"/>
                </a:solidFill>
                <a:latin typeface="Aptos"/>
              </a:defRPr>
            </a:pPr>
            <a:r>
              <a:t>MATCH + WORKFLOW</a:t>
            </a:r>
          </a:p>
        </p:txBody>
      </p:sp>
      <p:sp>
        <p:nvSpPr>
          <p:cNvPr id="23" name="Rounded Rectangle 22"/>
          <p:cNvSpPr/>
          <p:nvPr/>
        </p:nvSpPr>
        <p:spPr>
          <a:xfrm>
            <a:off x="9253728" y="3739896"/>
            <a:ext cx="1719072" cy="658368"/>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63456" y="3913632"/>
            <a:ext cx="1499616" cy="329184"/>
          </a:xfrm>
          <a:prstGeom prst="rect">
            <a:avLst/>
          </a:prstGeom>
          <a:noFill/>
        </p:spPr>
        <p:txBody>
          <a:bodyPr wrap="square" lIns="0" rIns="0" tIns="0" bIns="0">
            <a:spAutoFit/>
          </a:bodyPr>
          <a:lstStyle/>
          <a:p>
            <a:pPr algn="ctr">
              <a:defRPr sz="900" b="1">
                <a:solidFill>
                  <a:srgbClr val="FFFFFF"/>
                </a:solidFill>
                <a:latin typeface="Aptos"/>
              </a:defRPr>
            </a:pPr>
            <a:r>
              <a:t>REPORT + AUDIT</a:t>
            </a:r>
          </a:p>
        </p:txBody>
      </p:sp>
      <p:cxnSp>
        <p:nvCxnSpPr>
          <p:cNvPr id="25" name="Connector 24"/>
          <p:cNvCxnSpPr/>
          <p:nvPr/>
        </p:nvCxnSpPr>
        <p:spPr>
          <a:xfrm>
            <a:off x="8915400" y="2834640"/>
            <a:ext cx="512064" cy="0"/>
          </a:xfrm>
          <a:prstGeom prst="line">
            <a:avLst/>
          </a:prstGeom>
          <a:ln w="25400">
            <a:solidFill>
              <a:srgbClr val="25A99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15400" y="4069080"/>
            <a:ext cx="512064" cy="0"/>
          </a:xfrm>
          <a:prstGeom prst="line">
            <a:avLst/>
          </a:prstGeom>
          <a:ln w="25400">
            <a:solidFill>
              <a:srgbClr val="25A99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315200" y="5166360"/>
            <a:ext cx="3794760" cy="420624"/>
          </a:xfrm>
          <a:prstGeom prst="rect">
            <a:avLst/>
          </a:prstGeom>
          <a:noFill/>
        </p:spPr>
        <p:txBody>
          <a:bodyPr wrap="square" lIns="0" rIns="0" tIns="0" bIns="0">
            <a:spAutoFit/>
          </a:bodyPr>
          <a:lstStyle/>
          <a:p>
            <a:pPr algn="ctr">
              <a:defRPr sz="1000" b="0">
                <a:solidFill>
                  <a:srgbClr val="C4DBD8"/>
                </a:solidFill>
                <a:latin typeface="Aptos"/>
              </a:defRPr>
            </a:pPr>
            <a:r>
              <a:t>OPTIONAL LOCAL LLM · suggestion only</a:t>
            </a:r>
          </a:p>
        </p:txBody>
      </p:sp>
      <p:sp>
        <p:nvSpPr>
          <p:cNvPr id="28" name="TextBox 27"/>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Full technical design: OTProof_Technical_Design.md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09</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From finding to verified evidence</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Role separation prevents generated text or a proposed ticket from becoming a remediation claim.</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Reviewer records applicability with a rationale</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Engineer proposes action; approver accepts or rejects</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Approver verifies evidence before the workflow closes</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TextBox 16"/>
          <p:cNvSpPr txBox="1"/>
          <p:nvPr/>
        </p:nvSpPr>
        <p:spPr>
          <a:xfrm>
            <a:off x="7150608" y="2414016"/>
            <a:ext cx="4123944" cy="713232"/>
          </a:xfrm>
          <a:prstGeom prst="rect">
            <a:avLst/>
          </a:prstGeom>
          <a:noFill/>
        </p:spPr>
        <p:txBody>
          <a:bodyPr wrap="square" lIns="0" rIns="0" tIns="0" bIns="0">
            <a:spAutoFit/>
          </a:bodyPr>
          <a:lstStyle/>
          <a:p>
            <a:pPr algn="l">
              <a:defRPr sz="2900" b="1">
                <a:solidFill>
                  <a:srgbClr val="8FE0CE"/>
                </a:solidFill>
                <a:latin typeface="Aptos"/>
              </a:defRPr>
            </a:pPr>
            <a:r>
              <a:t>4 ROLES</a:t>
            </a:r>
          </a:p>
        </p:txBody>
      </p:sp>
      <p:sp>
        <p:nvSpPr>
          <p:cNvPr id="18" name="TextBox 17"/>
          <p:cNvSpPr txBox="1"/>
          <p:nvPr/>
        </p:nvSpPr>
        <p:spPr>
          <a:xfrm>
            <a:off x="7150608" y="3136392"/>
            <a:ext cx="4123944" cy="548640"/>
          </a:xfrm>
          <a:prstGeom prst="rect">
            <a:avLst/>
          </a:prstGeom>
          <a:noFill/>
        </p:spPr>
        <p:txBody>
          <a:bodyPr wrap="square" lIns="0" rIns="0" tIns="0" bIns="0">
            <a:spAutoFit/>
          </a:bodyPr>
          <a:lstStyle/>
          <a:p>
            <a:pPr algn="l">
              <a:defRPr sz="1200" b="0">
                <a:solidFill>
                  <a:srgbClr val="D0E0DF"/>
                </a:solidFill>
                <a:latin typeface="Aptos"/>
              </a:defRPr>
            </a:pPr>
            <a:r>
              <a:t>Engineer · reviewer · approver · admin</a:t>
            </a:r>
          </a:p>
        </p:txBody>
      </p:sp>
      <p:sp>
        <p:nvSpPr>
          <p:cNvPr id="19" name="Rectangle 18"/>
          <p:cNvSpPr/>
          <p:nvPr/>
        </p:nvSpPr>
        <p:spPr>
          <a:xfrm>
            <a:off x="7178040" y="4014215"/>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15783" y="3968496"/>
            <a:ext cx="3904487" cy="329184"/>
          </a:xfrm>
          <a:prstGeom prst="rect">
            <a:avLst/>
          </a:prstGeom>
          <a:noFill/>
        </p:spPr>
        <p:txBody>
          <a:bodyPr wrap="square" lIns="0" rIns="0" tIns="0" bIns="0">
            <a:spAutoFit/>
          </a:bodyPr>
          <a:lstStyle/>
          <a:p>
            <a:pPr algn="l">
              <a:defRPr sz="1000" b="0">
                <a:solidFill>
                  <a:srgbClr val="FFFFFF"/>
                </a:solidFill>
                <a:latin typeface="Aptos"/>
              </a:defRPr>
            </a:pPr>
            <a:r>
              <a:t>Decision</a:t>
            </a:r>
          </a:p>
        </p:txBody>
      </p:sp>
      <p:sp>
        <p:nvSpPr>
          <p:cNvPr id="21" name="Rectangle 20"/>
          <p:cNvSpPr/>
          <p:nvPr/>
        </p:nvSpPr>
        <p:spPr>
          <a:xfrm>
            <a:off x="7178040" y="4507992"/>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5783" y="4462272"/>
            <a:ext cx="3904487" cy="329184"/>
          </a:xfrm>
          <a:prstGeom prst="rect">
            <a:avLst/>
          </a:prstGeom>
          <a:noFill/>
        </p:spPr>
        <p:txBody>
          <a:bodyPr wrap="square" lIns="0" rIns="0" tIns="0" bIns="0">
            <a:spAutoFit/>
          </a:bodyPr>
          <a:lstStyle/>
          <a:p>
            <a:pPr algn="l">
              <a:defRPr sz="1000" b="0">
                <a:solidFill>
                  <a:srgbClr val="FFFFFF"/>
                </a:solidFill>
                <a:latin typeface="Aptos"/>
              </a:defRPr>
            </a:pPr>
            <a:r>
              <a:t>Ticket</a:t>
            </a:r>
          </a:p>
        </p:txBody>
      </p:sp>
      <p:sp>
        <p:nvSpPr>
          <p:cNvPr id="23" name="Rectangle 22"/>
          <p:cNvSpPr/>
          <p:nvPr/>
        </p:nvSpPr>
        <p:spPr>
          <a:xfrm>
            <a:off x="7178040" y="5001768"/>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783" y="4956048"/>
            <a:ext cx="3904487" cy="329184"/>
          </a:xfrm>
          <a:prstGeom prst="rect">
            <a:avLst/>
          </a:prstGeom>
          <a:noFill/>
        </p:spPr>
        <p:txBody>
          <a:bodyPr wrap="square" lIns="0" rIns="0" tIns="0" bIns="0">
            <a:spAutoFit/>
          </a:bodyPr>
          <a:lstStyle/>
          <a:p>
            <a:pPr algn="l">
              <a:defRPr sz="1000" b="0">
                <a:solidFill>
                  <a:srgbClr val="FFFFFF"/>
                </a:solidFill>
                <a:latin typeface="Aptos"/>
              </a:defRPr>
            </a:pPr>
            <a:r>
              <a:t>Evidence</a:t>
            </a:r>
          </a:p>
        </p:txBody>
      </p:sp>
      <p:sp>
        <p:nvSpPr>
          <p:cNvPr id="25" name="Rectangle 24"/>
          <p:cNvSpPr/>
          <p:nvPr/>
        </p:nvSpPr>
        <p:spPr>
          <a:xfrm>
            <a:off x="7178040" y="5495544"/>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15783" y="5449824"/>
            <a:ext cx="3904487" cy="329184"/>
          </a:xfrm>
          <a:prstGeom prst="rect">
            <a:avLst/>
          </a:prstGeom>
          <a:noFill/>
        </p:spPr>
        <p:txBody>
          <a:bodyPr wrap="square" lIns="0" rIns="0" tIns="0" bIns="0">
            <a:spAutoFit/>
          </a:bodyPr>
          <a:lstStyle/>
          <a:p>
            <a:pPr algn="l">
              <a:defRPr sz="1000" b="0">
                <a:solidFill>
                  <a:srgbClr val="FFFFFF"/>
                </a:solidFill>
                <a:latin typeface="Aptos"/>
              </a:defRPr>
            </a:pPr>
            <a:r>
              <a:t>Verification</a:t>
            </a:r>
          </a:p>
        </p:txBody>
      </p:sp>
      <p:sp>
        <p:nvSpPr>
          <p:cNvPr id="27" name="TextBox 26"/>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Demo bearer tokens are public; production identity integration is required.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10</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Positioning: complement an established OT security landscape</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Broad platforms already offer inventory and exposure workflows; the proposed wedge is narrower.</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Claroty, Tenable, and Nozomi describe broad OT visibility and risk products</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GRC / IRM platforms manage enterprise risk, controls, and audit workflow</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Test if source-linked review fills a process gap or integrates cleanly</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Rounded Rectangle 16"/>
          <p:cNvSpPr/>
          <p:nvPr/>
        </p:nvSpPr>
        <p:spPr>
          <a:xfrm>
            <a:off x="7132320" y="2450592"/>
            <a:ext cx="1463040" cy="457200"/>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5472" y="2569464"/>
            <a:ext cx="1307592" cy="182880"/>
          </a:xfrm>
          <a:prstGeom prst="rect">
            <a:avLst/>
          </a:prstGeom>
          <a:noFill/>
        </p:spPr>
        <p:txBody>
          <a:bodyPr wrap="square" lIns="0" rIns="0" tIns="0" bIns="0">
            <a:spAutoFit/>
          </a:bodyPr>
          <a:lstStyle/>
          <a:p>
            <a:pPr algn="ctr">
              <a:defRPr sz="800" b="1">
                <a:solidFill>
                  <a:srgbClr val="FFFFFF"/>
                </a:solidFill>
                <a:latin typeface="Aptos"/>
              </a:defRPr>
            </a:pPr>
            <a:r>
              <a:t>CLAROTY</a:t>
            </a:r>
          </a:p>
        </p:txBody>
      </p:sp>
      <p:sp>
        <p:nvSpPr>
          <p:cNvPr id="19" name="TextBox 18"/>
          <p:cNvSpPr txBox="1"/>
          <p:nvPr/>
        </p:nvSpPr>
        <p:spPr>
          <a:xfrm>
            <a:off x="8805672" y="2532888"/>
            <a:ext cx="2414016" cy="283464"/>
          </a:xfrm>
          <a:prstGeom prst="rect">
            <a:avLst/>
          </a:prstGeom>
          <a:noFill/>
        </p:spPr>
        <p:txBody>
          <a:bodyPr wrap="square" lIns="0" rIns="0" tIns="0" bIns="0">
            <a:spAutoFit/>
          </a:bodyPr>
          <a:lstStyle/>
          <a:p>
            <a:pPr algn="l">
              <a:defRPr sz="900" b="0">
                <a:solidFill>
                  <a:srgbClr val="C4DBD8"/>
                </a:solidFill>
                <a:latin typeface="Aptos"/>
              </a:defRPr>
            </a:pPr>
            <a:r>
              <a:t>Broader platform / workflow</a:t>
            </a:r>
          </a:p>
        </p:txBody>
      </p:sp>
      <p:sp>
        <p:nvSpPr>
          <p:cNvPr id="20" name="Rounded Rectangle 19"/>
          <p:cNvSpPr/>
          <p:nvPr/>
        </p:nvSpPr>
        <p:spPr>
          <a:xfrm>
            <a:off x="7132320" y="3127248"/>
            <a:ext cx="1463040" cy="457200"/>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05472" y="3246120"/>
            <a:ext cx="1307592" cy="182880"/>
          </a:xfrm>
          <a:prstGeom prst="rect">
            <a:avLst/>
          </a:prstGeom>
          <a:noFill/>
        </p:spPr>
        <p:txBody>
          <a:bodyPr wrap="square" lIns="0" rIns="0" tIns="0" bIns="0">
            <a:spAutoFit/>
          </a:bodyPr>
          <a:lstStyle/>
          <a:p>
            <a:pPr algn="ctr">
              <a:defRPr sz="800" b="1">
                <a:solidFill>
                  <a:srgbClr val="FFFFFF"/>
                </a:solidFill>
                <a:latin typeface="Aptos"/>
              </a:defRPr>
            </a:pPr>
            <a:r>
              <a:t>TENABLE</a:t>
            </a:r>
          </a:p>
        </p:txBody>
      </p:sp>
      <p:sp>
        <p:nvSpPr>
          <p:cNvPr id="22" name="TextBox 21"/>
          <p:cNvSpPr txBox="1"/>
          <p:nvPr/>
        </p:nvSpPr>
        <p:spPr>
          <a:xfrm>
            <a:off x="8805672" y="3209544"/>
            <a:ext cx="2414016" cy="283464"/>
          </a:xfrm>
          <a:prstGeom prst="rect">
            <a:avLst/>
          </a:prstGeom>
          <a:noFill/>
        </p:spPr>
        <p:txBody>
          <a:bodyPr wrap="square" lIns="0" rIns="0" tIns="0" bIns="0">
            <a:spAutoFit/>
          </a:bodyPr>
          <a:lstStyle/>
          <a:p>
            <a:pPr algn="l">
              <a:defRPr sz="900" b="0">
                <a:solidFill>
                  <a:srgbClr val="C4DBD8"/>
                </a:solidFill>
                <a:latin typeface="Aptos"/>
              </a:defRPr>
            </a:pPr>
            <a:r>
              <a:t>Broader platform / workflow</a:t>
            </a:r>
          </a:p>
        </p:txBody>
      </p:sp>
      <p:sp>
        <p:nvSpPr>
          <p:cNvPr id="23" name="Rounded Rectangle 22"/>
          <p:cNvSpPr/>
          <p:nvPr/>
        </p:nvSpPr>
        <p:spPr>
          <a:xfrm>
            <a:off x="7132320" y="3803904"/>
            <a:ext cx="1463040" cy="457200"/>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05472" y="3922776"/>
            <a:ext cx="1307592" cy="182880"/>
          </a:xfrm>
          <a:prstGeom prst="rect">
            <a:avLst/>
          </a:prstGeom>
          <a:noFill/>
        </p:spPr>
        <p:txBody>
          <a:bodyPr wrap="square" lIns="0" rIns="0" tIns="0" bIns="0">
            <a:spAutoFit/>
          </a:bodyPr>
          <a:lstStyle/>
          <a:p>
            <a:pPr algn="ctr">
              <a:defRPr sz="800" b="1">
                <a:solidFill>
                  <a:srgbClr val="FFFFFF"/>
                </a:solidFill>
                <a:latin typeface="Aptos"/>
              </a:defRPr>
            </a:pPr>
            <a:r>
              <a:t>NOZOMI</a:t>
            </a:r>
          </a:p>
        </p:txBody>
      </p:sp>
      <p:sp>
        <p:nvSpPr>
          <p:cNvPr id="25" name="TextBox 24"/>
          <p:cNvSpPr txBox="1"/>
          <p:nvPr/>
        </p:nvSpPr>
        <p:spPr>
          <a:xfrm>
            <a:off x="8805672" y="3886200"/>
            <a:ext cx="2414016" cy="283464"/>
          </a:xfrm>
          <a:prstGeom prst="rect">
            <a:avLst/>
          </a:prstGeom>
          <a:noFill/>
        </p:spPr>
        <p:txBody>
          <a:bodyPr wrap="square" lIns="0" rIns="0" tIns="0" bIns="0">
            <a:spAutoFit/>
          </a:bodyPr>
          <a:lstStyle/>
          <a:p>
            <a:pPr algn="l">
              <a:defRPr sz="900" b="0">
                <a:solidFill>
                  <a:srgbClr val="C4DBD8"/>
                </a:solidFill>
                <a:latin typeface="Aptos"/>
              </a:defRPr>
            </a:pPr>
            <a:r>
              <a:t>Broader platform / workflow</a:t>
            </a:r>
          </a:p>
        </p:txBody>
      </p:sp>
      <p:sp>
        <p:nvSpPr>
          <p:cNvPr id="26" name="Rounded Rectangle 25"/>
          <p:cNvSpPr/>
          <p:nvPr/>
        </p:nvSpPr>
        <p:spPr>
          <a:xfrm>
            <a:off x="7132320" y="4480560"/>
            <a:ext cx="1463040" cy="457200"/>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05472" y="4599432"/>
            <a:ext cx="1307592" cy="182880"/>
          </a:xfrm>
          <a:prstGeom prst="rect">
            <a:avLst/>
          </a:prstGeom>
          <a:noFill/>
        </p:spPr>
        <p:txBody>
          <a:bodyPr wrap="square" lIns="0" rIns="0" tIns="0" bIns="0">
            <a:spAutoFit/>
          </a:bodyPr>
          <a:lstStyle/>
          <a:p>
            <a:pPr algn="ctr">
              <a:defRPr sz="800" b="1">
                <a:solidFill>
                  <a:srgbClr val="FFFFFF"/>
                </a:solidFill>
                <a:latin typeface="Aptos"/>
              </a:defRPr>
            </a:pPr>
            <a:r>
              <a:t>SERVICE / GRC</a:t>
            </a:r>
          </a:p>
        </p:txBody>
      </p:sp>
      <p:sp>
        <p:nvSpPr>
          <p:cNvPr id="28" name="TextBox 27"/>
          <p:cNvSpPr txBox="1"/>
          <p:nvPr/>
        </p:nvSpPr>
        <p:spPr>
          <a:xfrm>
            <a:off x="8805672" y="4562856"/>
            <a:ext cx="2414016" cy="283464"/>
          </a:xfrm>
          <a:prstGeom prst="rect">
            <a:avLst/>
          </a:prstGeom>
          <a:noFill/>
        </p:spPr>
        <p:txBody>
          <a:bodyPr wrap="square" lIns="0" rIns="0" tIns="0" bIns="0">
            <a:spAutoFit/>
          </a:bodyPr>
          <a:lstStyle/>
          <a:p>
            <a:pPr algn="l">
              <a:defRPr sz="900" b="0">
                <a:solidFill>
                  <a:srgbClr val="C4DBD8"/>
                </a:solidFill>
                <a:latin typeface="Aptos"/>
              </a:defRPr>
            </a:pPr>
            <a:r>
              <a:t>Broader platform / workflow</a:t>
            </a:r>
          </a:p>
        </p:txBody>
      </p:sp>
      <p:sp>
        <p:nvSpPr>
          <p:cNvPr id="29" name="TextBox 28"/>
          <p:cNvSpPr txBox="1"/>
          <p:nvPr/>
        </p:nvSpPr>
        <p:spPr>
          <a:xfrm>
            <a:off x="7315200" y="5413248"/>
            <a:ext cx="3794760" cy="274320"/>
          </a:xfrm>
          <a:prstGeom prst="rect">
            <a:avLst/>
          </a:prstGeom>
          <a:noFill/>
        </p:spPr>
        <p:txBody>
          <a:bodyPr wrap="square" lIns="0" rIns="0" tIns="0" bIns="0">
            <a:spAutoFit/>
          </a:bodyPr>
          <a:lstStyle/>
          <a:p>
            <a:pPr algn="ctr">
              <a:defRPr sz="900" b="1">
                <a:solidFill>
                  <a:srgbClr val="8FC7BE"/>
                </a:solidFill>
                <a:latin typeface="Aptos"/>
              </a:defRPr>
            </a:pPr>
            <a:r>
              <a:t>OTProof: focused evidence workflow hypothesis</a:t>
            </a:r>
          </a:p>
        </p:txBody>
      </p:sp>
      <p:sp>
        <p:nvSpPr>
          <p:cNvPr id="30" name="TextBox 29"/>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Claroty · Tenable · Nozomi · ServiceNow public product documentation; see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11</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A site license plus deployment and assurance services</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Start with a transparent per-site hypothesis, then validate effort and willingness to pay.</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Illustrative license: $36,000 per site per year</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Illustrative onboarding: $25,000 per new customer</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Enterprise tiers, integrations, and ongoing review services are options</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TextBox 16"/>
          <p:cNvSpPr txBox="1"/>
          <p:nvPr/>
        </p:nvSpPr>
        <p:spPr>
          <a:xfrm>
            <a:off x="7196328" y="2487168"/>
            <a:ext cx="2267712" cy="292608"/>
          </a:xfrm>
          <a:prstGeom prst="rect">
            <a:avLst/>
          </a:prstGeom>
          <a:noFill/>
        </p:spPr>
        <p:txBody>
          <a:bodyPr wrap="square" lIns="0" rIns="0" tIns="0" bIns="0">
            <a:spAutoFit/>
          </a:bodyPr>
          <a:lstStyle/>
          <a:p>
            <a:pPr algn="l">
              <a:defRPr sz="1000" b="1">
                <a:solidFill>
                  <a:srgbClr val="FFFFFF"/>
                </a:solidFill>
                <a:latin typeface="Aptos"/>
              </a:defRPr>
            </a:pPr>
            <a:r>
              <a:t>1 customer</a:t>
            </a:r>
          </a:p>
        </p:txBody>
      </p:sp>
      <p:sp>
        <p:nvSpPr>
          <p:cNvPr id="18" name="TextBox 17"/>
          <p:cNvSpPr txBox="1"/>
          <p:nvPr/>
        </p:nvSpPr>
        <p:spPr>
          <a:xfrm>
            <a:off x="9601200" y="2487168"/>
            <a:ext cx="1600200" cy="292608"/>
          </a:xfrm>
          <a:prstGeom prst="rect">
            <a:avLst/>
          </a:prstGeom>
          <a:noFill/>
        </p:spPr>
        <p:txBody>
          <a:bodyPr wrap="square" lIns="0" rIns="0" tIns="0" bIns="0">
            <a:spAutoFit/>
          </a:bodyPr>
          <a:lstStyle/>
          <a:p>
            <a:pPr algn="r">
              <a:defRPr sz="1100" b="1">
                <a:solidFill>
                  <a:srgbClr val="8FE0CE"/>
                </a:solidFill>
                <a:latin typeface="Aptos"/>
              </a:defRPr>
            </a:pPr>
            <a:r>
              <a:t>$108k ARR</a:t>
            </a:r>
          </a:p>
        </p:txBody>
      </p:sp>
      <p:sp>
        <p:nvSpPr>
          <p:cNvPr id="19" name="Rectangle 18"/>
          <p:cNvSpPr/>
          <p:nvPr/>
        </p:nvSpPr>
        <p:spPr>
          <a:xfrm>
            <a:off x="7178040" y="2880360"/>
            <a:ext cx="4069080" cy="9144"/>
          </a:xfrm>
          <a:prstGeom prst="rect">
            <a:avLst/>
          </a:prstGeom>
          <a:solidFill>
            <a:srgbClr val="486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8" y="3200400"/>
            <a:ext cx="2267712" cy="292608"/>
          </a:xfrm>
          <a:prstGeom prst="rect">
            <a:avLst/>
          </a:prstGeom>
          <a:noFill/>
        </p:spPr>
        <p:txBody>
          <a:bodyPr wrap="square" lIns="0" rIns="0" tIns="0" bIns="0">
            <a:spAutoFit/>
          </a:bodyPr>
          <a:lstStyle/>
          <a:p>
            <a:pPr algn="l">
              <a:defRPr sz="1000" b="1">
                <a:solidFill>
                  <a:srgbClr val="FFFFFF"/>
                </a:solidFill>
                <a:latin typeface="Aptos"/>
              </a:defRPr>
            </a:pPr>
            <a:r>
              <a:t>5 customers</a:t>
            </a:r>
          </a:p>
        </p:txBody>
      </p:sp>
      <p:sp>
        <p:nvSpPr>
          <p:cNvPr id="21" name="TextBox 20"/>
          <p:cNvSpPr txBox="1"/>
          <p:nvPr/>
        </p:nvSpPr>
        <p:spPr>
          <a:xfrm>
            <a:off x="9601200" y="3200400"/>
            <a:ext cx="1600200" cy="292608"/>
          </a:xfrm>
          <a:prstGeom prst="rect">
            <a:avLst/>
          </a:prstGeom>
          <a:noFill/>
        </p:spPr>
        <p:txBody>
          <a:bodyPr wrap="square" lIns="0" rIns="0" tIns="0" bIns="0">
            <a:spAutoFit/>
          </a:bodyPr>
          <a:lstStyle/>
          <a:p>
            <a:pPr algn="r">
              <a:defRPr sz="1100" b="1">
                <a:solidFill>
                  <a:srgbClr val="8FE0CE"/>
                </a:solidFill>
                <a:latin typeface="Aptos"/>
              </a:defRPr>
            </a:pPr>
            <a:r>
              <a:t>$540k ARR</a:t>
            </a:r>
          </a:p>
        </p:txBody>
      </p:sp>
      <p:sp>
        <p:nvSpPr>
          <p:cNvPr id="22" name="Rectangle 21"/>
          <p:cNvSpPr/>
          <p:nvPr/>
        </p:nvSpPr>
        <p:spPr>
          <a:xfrm>
            <a:off x="7178040" y="3593592"/>
            <a:ext cx="4069080" cy="9144"/>
          </a:xfrm>
          <a:prstGeom prst="rect">
            <a:avLst/>
          </a:prstGeom>
          <a:solidFill>
            <a:srgbClr val="486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96328" y="3913632"/>
            <a:ext cx="2267712" cy="292608"/>
          </a:xfrm>
          <a:prstGeom prst="rect">
            <a:avLst/>
          </a:prstGeom>
          <a:noFill/>
        </p:spPr>
        <p:txBody>
          <a:bodyPr wrap="square" lIns="0" rIns="0" tIns="0" bIns="0">
            <a:spAutoFit/>
          </a:bodyPr>
          <a:lstStyle/>
          <a:p>
            <a:pPr algn="l">
              <a:defRPr sz="1000" b="1">
                <a:solidFill>
                  <a:srgbClr val="FFFFFF"/>
                </a:solidFill>
                <a:latin typeface="Aptos"/>
              </a:defRPr>
            </a:pPr>
            <a:r>
              <a:t>10 customers</a:t>
            </a:r>
          </a:p>
        </p:txBody>
      </p:sp>
      <p:sp>
        <p:nvSpPr>
          <p:cNvPr id="24" name="TextBox 23"/>
          <p:cNvSpPr txBox="1"/>
          <p:nvPr/>
        </p:nvSpPr>
        <p:spPr>
          <a:xfrm>
            <a:off x="9601200" y="3913632"/>
            <a:ext cx="1600200" cy="292608"/>
          </a:xfrm>
          <a:prstGeom prst="rect">
            <a:avLst/>
          </a:prstGeom>
          <a:noFill/>
        </p:spPr>
        <p:txBody>
          <a:bodyPr wrap="square" lIns="0" rIns="0" tIns="0" bIns="0">
            <a:spAutoFit/>
          </a:bodyPr>
          <a:lstStyle/>
          <a:p>
            <a:pPr algn="r">
              <a:defRPr sz="1100" b="1">
                <a:solidFill>
                  <a:srgbClr val="8FE0CE"/>
                </a:solidFill>
                <a:latin typeface="Aptos"/>
              </a:defRPr>
            </a:pPr>
            <a:r>
              <a:t>$1.08m ARR</a:t>
            </a:r>
          </a:p>
        </p:txBody>
      </p:sp>
      <p:sp>
        <p:nvSpPr>
          <p:cNvPr id="25" name="Rectangle 24"/>
          <p:cNvSpPr/>
          <p:nvPr/>
        </p:nvSpPr>
        <p:spPr>
          <a:xfrm>
            <a:off x="7178040" y="4306824"/>
            <a:ext cx="4069080" cy="9144"/>
          </a:xfrm>
          <a:prstGeom prst="rect">
            <a:avLst/>
          </a:prstGeom>
          <a:solidFill>
            <a:srgbClr val="486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96328" y="4626864"/>
            <a:ext cx="2267712" cy="292608"/>
          </a:xfrm>
          <a:prstGeom prst="rect">
            <a:avLst/>
          </a:prstGeom>
          <a:noFill/>
        </p:spPr>
        <p:txBody>
          <a:bodyPr wrap="square" lIns="0" rIns="0" tIns="0" bIns="0">
            <a:spAutoFit/>
          </a:bodyPr>
          <a:lstStyle/>
          <a:p>
            <a:pPr algn="l">
              <a:defRPr sz="1000" b="1">
                <a:solidFill>
                  <a:srgbClr val="FFFFFF"/>
                </a:solidFill>
                <a:latin typeface="Aptos"/>
              </a:defRPr>
            </a:pPr>
            <a:r>
              <a:t>25 customers</a:t>
            </a:r>
          </a:p>
        </p:txBody>
      </p:sp>
      <p:sp>
        <p:nvSpPr>
          <p:cNvPr id="27" name="TextBox 26"/>
          <p:cNvSpPr txBox="1"/>
          <p:nvPr/>
        </p:nvSpPr>
        <p:spPr>
          <a:xfrm>
            <a:off x="9601200" y="4626864"/>
            <a:ext cx="1600200" cy="292608"/>
          </a:xfrm>
          <a:prstGeom prst="rect">
            <a:avLst/>
          </a:prstGeom>
          <a:noFill/>
        </p:spPr>
        <p:txBody>
          <a:bodyPr wrap="square" lIns="0" rIns="0" tIns="0" bIns="0">
            <a:spAutoFit/>
          </a:bodyPr>
          <a:lstStyle/>
          <a:p>
            <a:pPr algn="r">
              <a:defRPr sz="1100" b="1">
                <a:solidFill>
                  <a:srgbClr val="8FE0CE"/>
                </a:solidFill>
                <a:latin typeface="Aptos"/>
              </a:defRPr>
            </a:pPr>
            <a:r>
              <a:t>$2.70m ARR</a:t>
            </a:r>
          </a:p>
        </p:txBody>
      </p:sp>
      <p:sp>
        <p:nvSpPr>
          <p:cNvPr id="28" name="TextBox 27"/>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Illustrative arithmetic only; assumptions in OTProof_Business_Case.pdf.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12</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MVP baseline: correct on a small, explicit fixture set</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The results show the code follows the labels supplied; they do not estimate field accuracy.</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14/14 labeled cases matched expected outcomes</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4 applicable cases: 100% fixture precision/recall, 0 fixture false negatives</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6/6 uncertainty cases abstained; 14/14 outputs had source traceability</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Rounded Rectangle 16"/>
          <p:cNvSpPr/>
          <p:nvPr/>
        </p:nvSpPr>
        <p:spPr>
          <a:xfrm>
            <a:off x="7178040" y="2532888"/>
            <a:ext cx="1810512" cy="877824"/>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9480" y="2651760"/>
            <a:ext cx="1627632" cy="310896"/>
          </a:xfrm>
          <a:prstGeom prst="rect">
            <a:avLst/>
          </a:prstGeom>
          <a:noFill/>
        </p:spPr>
        <p:txBody>
          <a:bodyPr wrap="square" lIns="0" rIns="0" tIns="0" bIns="0">
            <a:spAutoFit/>
          </a:bodyPr>
          <a:lstStyle/>
          <a:p>
            <a:pPr algn="ctr">
              <a:defRPr sz="2000" b="1">
                <a:solidFill>
                  <a:srgbClr val="8FE0CE"/>
                </a:solidFill>
                <a:latin typeface="Aptos"/>
              </a:defRPr>
            </a:pPr>
            <a:r>
              <a:t>14/14</a:t>
            </a:r>
          </a:p>
        </p:txBody>
      </p:sp>
      <p:sp>
        <p:nvSpPr>
          <p:cNvPr id="19" name="TextBox 18"/>
          <p:cNvSpPr txBox="1"/>
          <p:nvPr/>
        </p:nvSpPr>
        <p:spPr>
          <a:xfrm>
            <a:off x="7269480" y="3044952"/>
            <a:ext cx="1627632" cy="201168"/>
          </a:xfrm>
          <a:prstGeom prst="rect">
            <a:avLst/>
          </a:prstGeom>
          <a:noFill/>
        </p:spPr>
        <p:txBody>
          <a:bodyPr wrap="square" lIns="0" rIns="0" tIns="0" bIns="0">
            <a:spAutoFit/>
          </a:bodyPr>
          <a:lstStyle/>
          <a:p>
            <a:pPr algn="ctr">
              <a:defRPr sz="800" b="0">
                <a:solidFill>
                  <a:srgbClr val="D0E0DF"/>
                </a:solidFill>
                <a:latin typeface="Aptos"/>
              </a:defRPr>
            </a:pPr>
            <a:r>
              <a:t>labels</a:t>
            </a:r>
          </a:p>
        </p:txBody>
      </p:sp>
      <p:sp>
        <p:nvSpPr>
          <p:cNvPr id="20" name="Rounded Rectangle 19"/>
          <p:cNvSpPr/>
          <p:nvPr/>
        </p:nvSpPr>
        <p:spPr>
          <a:xfrm>
            <a:off x="9281160" y="2532888"/>
            <a:ext cx="1810512" cy="877824"/>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72600" y="2651760"/>
            <a:ext cx="1627632" cy="310896"/>
          </a:xfrm>
          <a:prstGeom prst="rect">
            <a:avLst/>
          </a:prstGeom>
          <a:noFill/>
        </p:spPr>
        <p:txBody>
          <a:bodyPr wrap="square" lIns="0" rIns="0" tIns="0" bIns="0">
            <a:spAutoFit/>
          </a:bodyPr>
          <a:lstStyle/>
          <a:p>
            <a:pPr algn="ctr">
              <a:defRPr sz="2000" b="1">
                <a:solidFill>
                  <a:srgbClr val="8FE0CE"/>
                </a:solidFill>
                <a:latin typeface="Aptos"/>
              </a:defRPr>
            </a:pPr>
            <a:r>
              <a:t>4/4</a:t>
            </a:r>
          </a:p>
        </p:txBody>
      </p:sp>
      <p:sp>
        <p:nvSpPr>
          <p:cNvPr id="22" name="TextBox 21"/>
          <p:cNvSpPr txBox="1"/>
          <p:nvPr/>
        </p:nvSpPr>
        <p:spPr>
          <a:xfrm>
            <a:off x="9372600" y="3044952"/>
            <a:ext cx="1627632" cy="201168"/>
          </a:xfrm>
          <a:prstGeom prst="rect">
            <a:avLst/>
          </a:prstGeom>
          <a:noFill/>
        </p:spPr>
        <p:txBody>
          <a:bodyPr wrap="square" lIns="0" rIns="0" tIns="0" bIns="0">
            <a:spAutoFit/>
          </a:bodyPr>
          <a:lstStyle/>
          <a:p>
            <a:pPr algn="ctr">
              <a:defRPr sz="800" b="0">
                <a:solidFill>
                  <a:srgbClr val="D0E0DF"/>
                </a:solidFill>
                <a:latin typeface="Aptos"/>
              </a:defRPr>
            </a:pPr>
            <a:r>
              <a:t>applicable recall</a:t>
            </a:r>
          </a:p>
        </p:txBody>
      </p:sp>
      <p:sp>
        <p:nvSpPr>
          <p:cNvPr id="23" name="Rounded Rectangle 22"/>
          <p:cNvSpPr/>
          <p:nvPr/>
        </p:nvSpPr>
        <p:spPr>
          <a:xfrm>
            <a:off x="7178040" y="3666744"/>
            <a:ext cx="1810512" cy="877824"/>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9480" y="3785615"/>
            <a:ext cx="1627632" cy="310896"/>
          </a:xfrm>
          <a:prstGeom prst="rect">
            <a:avLst/>
          </a:prstGeom>
          <a:noFill/>
        </p:spPr>
        <p:txBody>
          <a:bodyPr wrap="square" lIns="0" rIns="0" tIns="0" bIns="0">
            <a:spAutoFit/>
          </a:bodyPr>
          <a:lstStyle/>
          <a:p>
            <a:pPr algn="ctr">
              <a:defRPr sz="2000" b="1">
                <a:solidFill>
                  <a:srgbClr val="8FE0CE"/>
                </a:solidFill>
                <a:latin typeface="Aptos"/>
              </a:defRPr>
            </a:pPr>
            <a:r>
              <a:t>6/6</a:t>
            </a:r>
          </a:p>
        </p:txBody>
      </p:sp>
      <p:sp>
        <p:nvSpPr>
          <p:cNvPr id="25" name="TextBox 24"/>
          <p:cNvSpPr txBox="1"/>
          <p:nvPr/>
        </p:nvSpPr>
        <p:spPr>
          <a:xfrm>
            <a:off x="7269480" y="4178808"/>
            <a:ext cx="1627632" cy="201168"/>
          </a:xfrm>
          <a:prstGeom prst="rect">
            <a:avLst/>
          </a:prstGeom>
          <a:noFill/>
        </p:spPr>
        <p:txBody>
          <a:bodyPr wrap="square" lIns="0" rIns="0" tIns="0" bIns="0">
            <a:spAutoFit/>
          </a:bodyPr>
          <a:lstStyle/>
          <a:p>
            <a:pPr algn="ctr">
              <a:defRPr sz="800" b="0">
                <a:solidFill>
                  <a:srgbClr val="D0E0DF"/>
                </a:solidFill>
                <a:latin typeface="Aptos"/>
              </a:defRPr>
            </a:pPr>
            <a:r>
              <a:t>abstain</a:t>
            </a:r>
          </a:p>
        </p:txBody>
      </p:sp>
      <p:sp>
        <p:nvSpPr>
          <p:cNvPr id="26" name="Rounded Rectangle 25"/>
          <p:cNvSpPr/>
          <p:nvPr/>
        </p:nvSpPr>
        <p:spPr>
          <a:xfrm>
            <a:off x="9281160" y="3666744"/>
            <a:ext cx="1810512" cy="877824"/>
          </a:xfrm>
          <a:prstGeom prst="roundRect">
            <a:avLst/>
          </a:prstGeom>
          <a:solidFill>
            <a:srgbClr val="2C4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600" y="3785615"/>
            <a:ext cx="1627632" cy="310896"/>
          </a:xfrm>
          <a:prstGeom prst="rect">
            <a:avLst/>
          </a:prstGeom>
          <a:noFill/>
        </p:spPr>
        <p:txBody>
          <a:bodyPr wrap="square" lIns="0" rIns="0" tIns="0" bIns="0">
            <a:spAutoFit/>
          </a:bodyPr>
          <a:lstStyle/>
          <a:p>
            <a:pPr algn="ctr">
              <a:defRPr sz="2000" b="1">
                <a:solidFill>
                  <a:srgbClr val="8FE0CE"/>
                </a:solidFill>
                <a:latin typeface="Aptos"/>
              </a:defRPr>
            </a:pPr>
            <a:r>
              <a:t>14/14</a:t>
            </a:r>
          </a:p>
        </p:txBody>
      </p:sp>
      <p:sp>
        <p:nvSpPr>
          <p:cNvPr id="28" name="TextBox 27"/>
          <p:cNvSpPr txBox="1"/>
          <p:nvPr/>
        </p:nvSpPr>
        <p:spPr>
          <a:xfrm>
            <a:off x="9372600" y="4178808"/>
            <a:ext cx="1627632" cy="201168"/>
          </a:xfrm>
          <a:prstGeom prst="rect">
            <a:avLst/>
          </a:prstGeom>
          <a:noFill/>
        </p:spPr>
        <p:txBody>
          <a:bodyPr wrap="square" lIns="0" rIns="0" tIns="0" bIns="0">
            <a:spAutoFit/>
          </a:bodyPr>
          <a:lstStyle/>
          <a:p>
            <a:pPr algn="ctr">
              <a:defRPr sz="800" b="0">
                <a:solidFill>
                  <a:srgbClr val="D0E0DF"/>
                </a:solidFill>
                <a:latin typeface="Aptos"/>
              </a:defRPr>
            </a:pPr>
            <a:r>
              <a:t>traceable</a:t>
            </a:r>
          </a:p>
        </p:txBody>
      </p:sp>
      <p:sp>
        <p:nvSpPr>
          <p:cNvPr id="29" name="TextBox 28"/>
          <p:cNvSpPr txBox="1"/>
          <p:nvPr/>
        </p:nvSpPr>
        <p:spPr>
          <a:xfrm>
            <a:off x="7223760" y="5138928"/>
            <a:ext cx="3977639" cy="365760"/>
          </a:xfrm>
          <a:prstGeom prst="rect">
            <a:avLst/>
          </a:prstGeom>
          <a:noFill/>
        </p:spPr>
        <p:txBody>
          <a:bodyPr wrap="square" lIns="0" rIns="0" tIns="0" bIns="0">
            <a:spAutoFit/>
          </a:bodyPr>
          <a:lstStyle/>
          <a:p>
            <a:pPr algn="ctr">
              <a:defRPr sz="900" b="0">
                <a:solidFill>
                  <a:srgbClr val="F4C273"/>
                </a:solidFill>
                <a:latin typeface="Aptos"/>
              </a:defRPr>
            </a:pPr>
            <a:r>
              <a:t>Small synthetic test set · not field accuracy</a:t>
            </a:r>
          </a:p>
        </p:txBody>
      </p:sp>
      <p:sp>
        <p:nvSpPr>
          <p:cNvPr id="30" name="TextBox 29"/>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reports/evaluation_metrics.json · run dated 26 Oct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13</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Trust boundaries are product requirements</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Keep OT interactions passive and offline in the MVP, and reserve consequential decisions for people.</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No scan, exploit, device query, or configuration modification</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Treat uploads and advisory text as untrusted content</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Approval and verification require role-gated human action</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TextBox 16"/>
          <p:cNvSpPr txBox="1"/>
          <p:nvPr/>
        </p:nvSpPr>
        <p:spPr>
          <a:xfrm>
            <a:off x="7150608" y="2414016"/>
            <a:ext cx="4123944" cy="713232"/>
          </a:xfrm>
          <a:prstGeom prst="rect">
            <a:avLst/>
          </a:prstGeom>
          <a:noFill/>
        </p:spPr>
        <p:txBody>
          <a:bodyPr wrap="square" lIns="0" rIns="0" tIns="0" bIns="0">
            <a:spAutoFit/>
          </a:bodyPr>
          <a:lstStyle/>
          <a:p>
            <a:pPr algn="l">
              <a:defRPr sz="2900" b="1">
                <a:solidFill>
                  <a:srgbClr val="8FE0CE"/>
                </a:solidFill>
                <a:latin typeface="Aptos"/>
              </a:defRPr>
            </a:pPr>
            <a:r>
              <a:t>HUMAN</a:t>
            </a:r>
          </a:p>
        </p:txBody>
      </p:sp>
      <p:sp>
        <p:nvSpPr>
          <p:cNvPr id="18" name="TextBox 17"/>
          <p:cNvSpPr txBox="1"/>
          <p:nvPr/>
        </p:nvSpPr>
        <p:spPr>
          <a:xfrm>
            <a:off x="7150608" y="3136392"/>
            <a:ext cx="4123944" cy="548640"/>
          </a:xfrm>
          <a:prstGeom prst="rect">
            <a:avLst/>
          </a:prstGeom>
          <a:noFill/>
        </p:spPr>
        <p:txBody>
          <a:bodyPr wrap="square" lIns="0" rIns="0" tIns="0" bIns="0">
            <a:spAutoFit/>
          </a:bodyPr>
          <a:lstStyle/>
          <a:p>
            <a:pPr algn="l">
              <a:defRPr sz="1200" b="0">
                <a:solidFill>
                  <a:srgbClr val="D0E0DF"/>
                </a:solidFill>
                <a:latin typeface="Aptos"/>
              </a:defRPr>
            </a:pPr>
            <a:r>
              <a:t>Owns applicability and remediation decisions</a:t>
            </a:r>
          </a:p>
        </p:txBody>
      </p:sp>
      <p:sp>
        <p:nvSpPr>
          <p:cNvPr id="19" name="Rectangle 18"/>
          <p:cNvSpPr/>
          <p:nvPr/>
        </p:nvSpPr>
        <p:spPr>
          <a:xfrm>
            <a:off x="7178040" y="4014215"/>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15783" y="3968496"/>
            <a:ext cx="3904487" cy="329184"/>
          </a:xfrm>
          <a:prstGeom prst="rect">
            <a:avLst/>
          </a:prstGeom>
          <a:noFill/>
        </p:spPr>
        <p:txBody>
          <a:bodyPr wrap="square" lIns="0" rIns="0" tIns="0" bIns="0">
            <a:spAutoFit/>
          </a:bodyPr>
          <a:lstStyle/>
          <a:p>
            <a:pPr algn="l">
              <a:defRPr sz="1000" b="0">
                <a:solidFill>
                  <a:srgbClr val="FFFFFF"/>
                </a:solidFill>
                <a:latin typeface="Aptos"/>
              </a:defRPr>
            </a:pPr>
            <a:r>
              <a:t>Public sources only</a:t>
            </a:r>
          </a:p>
        </p:txBody>
      </p:sp>
      <p:sp>
        <p:nvSpPr>
          <p:cNvPr id="21" name="Rectangle 20"/>
          <p:cNvSpPr/>
          <p:nvPr/>
        </p:nvSpPr>
        <p:spPr>
          <a:xfrm>
            <a:off x="7178040" y="4507992"/>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5783" y="4462272"/>
            <a:ext cx="3904487" cy="329184"/>
          </a:xfrm>
          <a:prstGeom prst="rect">
            <a:avLst/>
          </a:prstGeom>
          <a:noFill/>
        </p:spPr>
        <p:txBody>
          <a:bodyPr wrap="square" lIns="0" rIns="0" tIns="0" bIns="0">
            <a:spAutoFit/>
          </a:bodyPr>
          <a:lstStyle/>
          <a:p>
            <a:pPr algn="l">
              <a:defRPr sz="1000" b="0">
                <a:solidFill>
                  <a:srgbClr val="FFFFFF"/>
                </a:solidFill>
                <a:latin typeface="Aptos"/>
              </a:defRPr>
            </a:pPr>
            <a:r>
              <a:t>Evidence and audit trail</a:t>
            </a:r>
          </a:p>
        </p:txBody>
      </p:sp>
      <p:sp>
        <p:nvSpPr>
          <p:cNvPr id="23" name="Rectangle 22"/>
          <p:cNvSpPr/>
          <p:nvPr/>
        </p:nvSpPr>
        <p:spPr>
          <a:xfrm>
            <a:off x="7178040" y="5001768"/>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783" y="4956048"/>
            <a:ext cx="3904487" cy="329184"/>
          </a:xfrm>
          <a:prstGeom prst="rect">
            <a:avLst/>
          </a:prstGeom>
          <a:noFill/>
        </p:spPr>
        <p:txBody>
          <a:bodyPr wrap="square" lIns="0" rIns="0" tIns="0" bIns="0">
            <a:spAutoFit/>
          </a:bodyPr>
          <a:lstStyle/>
          <a:p>
            <a:pPr algn="l">
              <a:defRPr sz="1000" b="0">
                <a:solidFill>
                  <a:srgbClr val="FFFFFF"/>
                </a:solidFill>
                <a:latin typeface="Aptos"/>
              </a:defRPr>
            </a:pPr>
            <a:r>
              <a:t>Production auth still required</a:t>
            </a:r>
          </a:p>
        </p:txBody>
      </p:sp>
      <p:sp>
        <p:nvSpPr>
          <p:cNvPr id="25" name="TextBox 24"/>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Threat model, identity, immutable audit, and security testing remain pilot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7F6"/>
        </a:solidFill>
        <a:effectLst/>
      </p:bgPr>
    </p:bg>
    <p:spTree>
      <p:nvGrpSpPr>
        <p:cNvPr id="1" name=""/>
        <p:cNvGrpSpPr/>
        <p:nvPr/>
      </p:nvGrpSpPr>
      <p:grpSpPr/>
      <p:sp>
        <p:nvSpPr>
          <p:cNvPr id="2" name="TextBox 1"/>
          <p:cNvSpPr txBox="1"/>
          <p:nvPr/>
        </p:nvSpPr>
        <p:spPr>
          <a:xfrm>
            <a:off x="658368" y="310896"/>
            <a:ext cx="4572000" cy="201168"/>
          </a:xfrm>
          <a:prstGeom prst="rect">
            <a:avLst/>
          </a:prstGeom>
          <a:noFill/>
        </p:spPr>
        <p:txBody>
          <a:bodyPr wrap="square" lIns="0" rIns="0" tIns="0" bIns="0">
            <a:spAutoFit/>
          </a:bodyPr>
          <a:lstStyle/>
          <a:p>
            <a:pPr algn="l">
              <a:defRPr sz="800" b="1">
                <a:solidFill>
                  <a:srgbClr val="25A99A"/>
                </a:solidFill>
                <a:latin typeface="Aptos"/>
              </a:defRPr>
            </a:pPr>
            <a:r>
              <a:t>OTPROOF  /  EUREKA HACKATHON</a:t>
            </a:r>
          </a:p>
        </p:txBody>
      </p:sp>
      <p:sp>
        <p:nvSpPr>
          <p:cNvPr id="3" name="TextBox 2"/>
          <p:cNvSpPr txBox="1"/>
          <p:nvPr/>
        </p:nvSpPr>
        <p:spPr>
          <a:xfrm>
            <a:off x="11082528" y="310896"/>
            <a:ext cx="411480" cy="201168"/>
          </a:xfrm>
          <a:prstGeom prst="rect">
            <a:avLst/>
          </a:prstGeom>
          <a:noFill/>
        </p:spPr>
        <p:txBody>
          <a:bodyPr wrap="square" lIns="0" rIns="0" tIns="0" bIns="0">
            <a:spAutoFit/>
          </a:bodyPr>
          <a:lstStyle/>
          <a:p>
            <a:pPr algn="r">
              <a:defRPr sz="800" b="1">
                <a:solidFill>
                  <a:srgbClr val="63777C"/>
                </a:solidFill>
                <a:latin typeface="Aptos"/>
              </a:defRPr>
            </a:pPr>
            <a:r>
              <a:t>14</a:t>
            </a:r>
          </a:p>
        </p:txBody>
      </p:sp>
      <p:sp>
        <p:nvSpPr>
          <p:cNvPr id="4" name="TextBox 3"/>
          <p:cNvSpPr txBox="1"/>
          <p:nvPr/>
        </p:nvSpPr>
        <p:spPr>
          <a:xfrm>
            <a:off x="658368" y="704088"/>
            <a:ext cx="10881360" cy="502920"/>
          </a:xfrm>
          <a:prstGeom prst="rect">
            <a:avLst/>
          </a:prstGeom>
          <a:noFill/>
        </p:spPr>
        <p:txBody>
          <a:bodyPr wrap="square" lIns="0" rIns="0" tIns="0" bIns="0">
            <a:spAutoFit/>
          </a:bodyPr>
          <a:lstStyle/>
          <a:p>
            <a:pPr algn="l">
              <a:defRPr sz="2500" b="1">
                <a:solidFill>
                  <a:srgbClr val="122430"/>
                </a:solidFill>
                <a:latin typeface="Aptos Display"/>
              </a:defRPr>
            </a:pPr>
            <a:r>
              <a:t>Next: validate with OT engineers and real workflow constraints</a:t>
            </a:r>
          </a:p>
        </p:txBody>
      </p:sp>
      <p:sp>
        <p:nvSpPr>
          <p:cNvPr id="5" name="TextBox 4"/>
          <p:cNvSpPr txBox="1"/>
          <p:nvPr/>
        </p:nvSpPr>
        <p:spPr>
          <a:xfrm>
            <a:off x="676656" y="1261872"/>
            <a:ext cx="10835640" cy="329184"/>
          </a:xfrm>
          <a:prstGeom prst="rect">
            <a:avLst/>
          </a:prstGeom>
          <a:noFill/>
        </p:spPr>
        <p:txBody>
          <a:bodyPr wrap="square" lIns="0" rIns="0" tIns="0" bIns="0">
            <a:spAutoFit/>
          </a:bodyPr>
          <a:lstStyle/>
          <a:p>
            <a:pPr algn="l">
              <a:defRPr sz="1100" b="0">
                <a:solidFill>
                  <a:srgbClr val="63777C"/>
                </a:solidFill>
                <a:latin typeface="Aptos"/>
              </a:defRPr>
            </a:pPr>
            <a:r>
              <a:t>The next milestone is evidence of usefulness, not a larger feature checklist.</a:t>
            </a:r>
          </a:p>
        </p:txBody>
      </p:sp>
      <p:sp>
        <p:nvSpPr>
          <p:cNvPr id="6" name="Rounded Rectangle 5"/>
          <p:cNvSpPr/>
          <p:nvPr/>
        </p:nvSpPr>
        <p:spPr>
          <a:xfrm>
            <a:off x="704088" y="1965960"/>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20824"/>
            <a:ext cx="338328" cy="182880"/>
          </a:xfrm>
          <a:prstGeom prst="rect">
            <a:avLst/>
          </a:prstGeom>
          <a:noFill/>
        </p:spPr>
        <p:txBody>
          <a:bodyPr wrap="square" lIns="0" rIns="0" tIns="0" bIns="0">
            <a:spAutoFit/>
          </a:bodyPr>
          <a:lstStyle/>
          <a:p>
            <a:pPr algn="ctr">
              <a:defRPr sz="800" b="1">
                <a:solidFill>
                  <a:srgbClr val="FFFFFF"/>
                </a:solidFill>
                <a:latin typeface="Aptos"/>
              </a:defRPr>
            </a:pPr>
            <a:r>
              <a:t>01</a:t>
            </a:r>
          </a:p>
        </p:txBody>
      </p:sp>
      <p:sp>
        <p:nvSpPr>
          <p:cNvPr id="8" name="TextBox 7"/>
          <p:cNvSpPr txBox="1"/>
          <p:nvPr/>
        </p:nvSpPr>
        <p:spPr>
          <a:xfrm>
            <a:off x="1243584" y="1929384"/>
            <a:ext cx="5074920" cy="777240"/>
          </a:xfrm>
          <a:prstGeom prst="rect">
            <a:avLst/>
          </a:prstGeom>
          <a:noFill/>
        </p:spPr>
        <p:txBody>
          <a:bodyPr wrap="square" lIns="0" rIns="0" tIns="0" bIns="0">
            <a:spAutoFit/>
          </a:bodyPr>
          <a:lstStyle/>
          <a:p>
            <a:pPr algn="l">
              <a:defRPr sz="1500" b="1">
                <a:solidFill>
                  <a:srgbClr val="18313A"/>
                </a:solidFill>
                <a:latin typeface="Aptos"/>
              </a:defRPr>
            </a:pPr>
            <a:r>
              <a:t>Recruit 3–5 operator or managed-service design partners</a:t>
            </a:r>
          </a:p>
        </p:txBody>
      </p:sp>
      <p:sp>
        <p:nvSpPr>
          <p:cNvPr id="9" name="Rounded Rectangle 8"/>
          <p:cNvSpPr/>
          <p:nvPr/>
        </p:nvSpPr>
        <p:spPr>
          <a:xfrm>
            <a:off x="704088" y="2990088"/>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044952"/>
            <a:ext cx="338328" cy="182880"/>
          </a:xfrm>
          <a:prstGeom prst="rect">
            <a:avLst/>
          </a:prstGeom>
          <a:noFill/>
        </p:spPr>
        <p:txBody>
          <a:bodyPr wrap="square" lIns="0" rIns="0" tIns="0" bIns="0">
            <a:spAutoFit/>
          </a:bodyPr>
          <a:lstStyle/>
          <a:p>
            <a:pPr algn="ctr">
              <a:defRPr sz="800" b="1">
                <a:solidFill>
                  <a:srgbClr val="FFFFFF"/>
                </a:solidFill>
                <a:latin typeface="Aptos"/>
              </a:defRPr>
            </a:pPr>
            <a:r>
              <a:t>02</a:t>
            </a:r>
          </a:p>
        </p:txBody>
      </p:sp>
      <p:sp>
        <p:nvSpPr>
          <p:cNvPr id="11" name="TextBox 10"/>
          <p:cNvSpPr txBox="1"/>
          <p:nvPr/>
        </p:nvSpPr>
        <p:spPr>
          <a:xfrm>
            <a:off x="1243584" y="2953512"/>
            <a:ext cx="5074920" cy="777240"/>
          </a:xfrm>
          <a:prstGeom prst="rect">
            <a:avLst/>
          </a:prstGeom>
          <a:noFill/>
        </p:spPr>
        <p:txBody>
          <a:bodyPr wrap="square" lIns="0" rIns="0" tIns="0" bIns="0">
            <a:spAutoFit/>
          </a:bodyPr>
          <a:lstStyle/>
          <a:p>
            <a:pPr algn="l">
              <a:defRPr sz="1500" b="0">
                <a:solidFill>
                  <a:srgbClr val="18313A"/>
                </a:solidFill>
                <a:latin typeface="Aptos"/>
              </a:defRPr>
            </a:pPr>
            <a:r>
              <a:t>Build a blinded, multi-vendor adjudication set with engineers</a:t>
            </a:r>
          </a:p>
        </p:txBody>
      </p:sp>
      <p:sp>
        <p:nvSpPr>
          <p:cNvPr id="12" name="Rounded Rectangle 11"/>
          <p:cNvSpPr/>
          <p:nvPr/>
        </p:nvSpPr>
        <p:spPr>
          <a:xfrm>
            <a:off x="704088" y="4014215"/>
            <a:ext cx="338328" cy="338328"/>
          </a:xfrm>
          <a:prstGeom prst="round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069079"/>
            <a:ext cx="338328" cy="182880"/>
          </a:xfrm>
          <a:prstGeom prst="rect">
            <a:avLst/>
          </a:prstGeom>
          <a:noFill/>
        </p:spPr>
        <p:txBody>
          <a:bodyPr wrap="square" lIns="0" rIns="0" tIns="0" bIns="0">
            <a:spAutoFit/>
          </a:bodyPr>
          <a:lstStyle/>
          <a:p>
            <a:pPr algn="ctr">
              <a:defRPr sz="800" b="1">
                <a:solidFill>
                  <a:srgbClr val="FFFFFF"/>
                </a:solidFill>
                <a:latin typeface="Aptos"/>
              </a:defRPr>
            </a:pPr>
            <a:r>
              <a:t>03</a:t>
            </a:r>
          </a:p>
        </p:txBody>
      </p:sp>
      <p:sp>
        <p:nvSpPr>
          <p:cNvPr id="14" name="TextBox 13"/>
          <p:cNvSpPr txBox="1"/>
          <p:nvPr/>
        </p:nvSpPr>
        <p:spPr>
          <a:xfrm>
            <a:off x="1243584" y="3977639"/>
            <a:ext cx="5074920" cy="777240"/>
          </a:xfrm>
          <a:prstGeom prst="rect">
            <a:avLst/>
          </a:prstGeom>
          <a:noFill/>
        </p:spPr>
        <p:txBody>
          <a:bodyPr wrap="square" lIns="0" rIns="0" tIns="0" bIns="0">
            <a:spAutoFit/>
          </a:bodyPr>
          <a:lstStyle/>
          <a:p>
            <a:pPr algn="l">
              <a:defRPr sz="1500" b="0">
                <a:solidFill>
                  <a:srgbClr val="18313A"/>
                </a:solidFill>
                <a:latin typeface="Aptos"/>
              </a:defRPr>
            </a:pPr>
            <a:r>
              <a:t>Measure false negatives, abstentions, review time, and onboarding effort</a:t>
            </a:r>
          </a:p>
        </p:txBody>
      </p:sp>
      <p:sp>
        <p:nvSpPr>
          <p:cNvPr id="15" name="Rounded Rectangle 14"/>
          <p:cNvSpPr/>
          <p:nvPr/>
        </p:nvSpPr>
        <p:spPr>
          <a:xfrm>
            <a:off x="6812280" y="1664208"/>
            <a:ext cx="4800600" cy="4279392"/>
          </a:xfrm>
          <a:prstGeom prst="roundRect">
            <a:avLst/>
          </a:prstGeom>
          <a:solidFill>
            <a:srgbClr val="1C3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1920240"/>
            <a:ext cx="4251960" cy="274320"/>
          </a:xfrm>
          <a:prstGeom prst="rect">
            <a:avLst/>
          </a:prstGeom>
          <a:noFill/>
        </p:spPr>
        <p:txBody>
          <a:bodyPr wrap="square" lIns="0" rIns="0" tIns="0" bIns="0">
            <a:spAutoFit/>
          </a:bodyPr>
          <a:lstStyle/>
          <a:p>
            <a:pPr algn="l">
              <a:defRPr sz="800" b="1">
                <a:solidFill>
                  <a:srgbClr val="8FC7BE"/>
                </a:solidFill>
                <a:latin typeface="Aptos"/>
              </a:defRPr>
            </a:pPr>
            <a:r>
              <a:t>OTPROOF / FIELD VIEW</a:t>
            </a:r>
          </a:p>
        </p:txBody>
      </p:sp>
      <p:sp>
        <p:nvSpPr>
          <p:cNvPr id="17" name="TextBox 16"/>
          <p:cNvSpPr txBox="1"/>
          <p:nvPr/>
        </p:nvSpPr>
        <p:spPr>
          <a:xfrm>
            <a:off x="7150608" y="2414016"/>
            <a:ext cx="4123944" cy="713232"/>
          </a:xfrm>
          <a:prstGeom prst="rect">
            <a:avLst/>
          </a:prstGeom>
          <a:noFill/>
        </p:spPr>
        <p:txBody>
          <a:bodyPr wrap="square" lIns="0" rIns="0" tIns="0" bIns="0">
            <a:spAutoFit/>
          </a:bodyPr>
          <a:lstStyle/>
          <a:p>
            <a:pPr algn="l">
              <a:defRPr sz="2900" b="1">
                <a:solidFill>
                  <a:srgbClr val="8FE0CE"/>
                </a:solidFill>
                <a:latin typeface="Aptos"/>
              </a:defRPr>
            </a:pPr>
            <a:r>
              <a:t>PILOT ASK</a:t>
            </a:r>
          </a:p>
        </p:txBody>
      </p:sp>
      <p:sp>
        <p:nvSpPr>
          <p:cNvPr id="18" name="TextBox 17"/>
          <p:cNvSpPr txBox="1"/>
          <p:nvPr/>
        </p:nvSpPr>
        <p:spPr>
          <a:xfrm>
            <a:off x="7150608" y="3136392"/>
            <a:ext cx="4123944" cy="548640"/>
          </a:xfrm>
          <a:prstGeom prst="rect">
            <a:avLst/>
          </a:prstGeom>
          <a:noFill/>
        </p:spPr>
        <p:txBody>
          <a:bodyPr wrap="square" lIns="0" rIns="0" tIns="0" bIns="0">
            <a:spAutoFit/>
          </a:bodyPr>
          <a:lstStyle/>
          <a:p>
            <a:pPr algn="l">
              <a:defRPr sz="1200" b="0">
                <a:solidFill>
                  <a:srgbClr val="D0E0DF"/>
                </a:solidFill>
                <a:latin typeface="Aptos"/>
              </a:defRPr>
            </a:pPr>
            <a:r>
              <a:t>Water / energy operator + OT engineering reviewers</a:t>
            </a:r>
          </a:p>
        </p:txBody>
      </p:sp>
      <p:sp>
        <p:nvSpPr>
          <p:cNvPr id="19" name="Rectangle 18"/>
          <p:cNvSpPr/>
          <p:nvPr/>
        </p:nvSpPr>
        <p:spPr>
          <a:xfrm>
            <a:off x="7178040" y="4014215"/>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15783" y="3968496"/>
            <a:ext cx="3904487" cy="329184"/>
          </a:xfrm>
          <a:prstGeom prst="rect">
            <a:avLst/>
          </a:prstGeom>
          <a:noFill/>
        </p:spPr>
        <p:txBody>
          <a:bodyPr wrap="square" lIns="0" rIns="0" tIns="0" bIns="0">
            <a:spAutoFit/>
          </a:bodyPr>
          <a:lstStyle/>
          <a:p>
            <a:pPr algn="l">
              <a:defRPr sz="1000" b="0">
                <a:solidFill>
                  <a:srgbClr val="FFFFFF"/>
                </a:solidFill>
                <a:latin typeface="Aptos"/>
              </a:defRPr>
            </a:pPr>
            <a:r>
              <a:t>Broaden source/vendor coverage</a:t>
            </a:r>
          </a:p>
        </p:txBody>
      </p:sp>
      <p:sp>
        <p:nvSpPr>
          <p:cNvPr id="21" name="Rectangle 20"/>
          <p:cNvSpPr/>
          <p:nvPr/>
        </p:nvSpPr>
        <p:spPr>
          <a:xfrm>
            <a:off x="7178040" y="4507992"/>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5783" y="4462272"/>
            <a:ext cx="3904487" cy="329184"/>
          </a:xfrm>
          <a:prstGeom prst="rect">
            <a:avLst/>
          </a:prstGeom>
          <a:noFill/>
        </p:spPr>
        <p:txBody>
          <a:bodyPr wrap="square" lIns="0" rIns="0" tIns="0" bIns="0">
            <a:spAutoFit/>
          </a:bodyPr>
          <a:lstStyle/>
          <a:p>
            <a:pPr algn="l">
              <a:defRPr sz="1000" b="0">
                <a:solidFill>
                  <a:srgbClr val="FFFFFF"/>
                </a:solidFill>
                <a:latin typeface="Aptos"/>
              </a:defRPr>
            </a:pPr>
            <a:r>
              <a:t>Add SSO and durable audit</a:t>
            </a:r>
          </a:p>
        </p:txBody>
      </p:sp>
      <p:sp>
        <p:nvSpPr>
          <p:cNvPr id="23" name="Rectangle 22"/>
          <p:cNvSpPr/>
          <p:nvPr/>
        </p:nvSpPr>
        <p:spPr>
          <a:xfrm>
            <a:off x="7178040" y="5001768"/>
            <a:ext cx="109728" cy="109728"/>
          </a:xfrm>
          <a:prstGeom prst="rect">
            <a:avLst/>
          </a:prstGeom>
          <a:solidFill>
            <a:srgbClr val="25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783" y="4956048"/>
            <a:ext cx="3904487" cy="329184"/>
          </a:xfrm>
          <a:prstGeom prst="rect">
            <a:avLst/>
          </a:prstGeom>
          <a:noFill/>
        </p:spPr>
        <p:txBody>
          <a:bodyPr wrap="square" lIns="0" rIns="0" tIns="0" bIns="0">
            <a:spAutoFit/>
          </a:bodyPr>
          <a:lstStyle/>
          <a:p>
            <a:pPr algn="l">
              <a:defRPr sz="1000" b="0">
                <a:solidFill>
                  <a:srgbClr val="FFFFFF"/>
                </a:solidFill>
                <a:latin typeface="Aptos"/>
              </a:defRPr>
            </a:pPr>
            <a:r>
              <a:t>Test CMMS / GRC connectors</a:t>
            </a:r>
          </a:p>
        </p:txBody>
      </p:sp>
      <p:sp>
        <p:nvSpPr>
          <p:cNvPr id="25" name="TextBox 24"/>
          <p:cNvSpPr txBox="1"/>
          <p:nvPr/>
        </p:nvSpPr>
        <p:spPr>
          <a:xfrm>
            <a:off x="676656" y="6327648"/>
            <a:ext cx="10744200" cy="201168"/>
          </a:xfrm>
          <a:prstGeom prst="rect">
            <a:avLst/>
          </a:prstGeom>
          <a:noFill/>
        </p:spPr>
        <p:txBody>
          <a:bodyPr wrap="square" lIns="0" rIns="0" tIns="0" bIns="0">
            <a:spAutoFit/>
          </a:bodyPr>
          <a:lstStyle/>
          <a:p>
            <a:pPr algn="l">
              <a:defRPr sz="700" b="0">
                <a:solidFill>
                  <a:srgbClr val="63777C"/>
                </a:solidFill>
                <a:latin typeface="Aptos"/>
              </a:defRPr>
            </a:pPr>
            <a:r>
              <a:t>No customer interviews, paid pilots, or measured savings are claimed yet.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