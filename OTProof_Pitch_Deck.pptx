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OTProof as a record-checking tool for industrial security work. An operator provides an equipment spreadsheet, and OTProof compares it with public security notices. The screen shows what appears to match, which source it used, and when a person should check missing or unclear details. Engineers and approvers make the consequential decisions. The equipment in the demo is fictional; the CISA notices are real. The application never scans, exploits, queries, or changes industrial equipment. This pitch asks whether operators need a focused review tool alongside the security and audit products they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is connecting one installed asset to one public notice and keeping the reason for the decision. The equipment list may be old, spell the maker differently, or omit the software version. The notice may describe the same product family with different wording. A loose name match creates false alarms; missing version details make a confident conclusion impossible. NIST, the U.S. National Institute of Standards and Technology, recommends accurate equipment records in its published OT security guide, Revision 3. OTProof starts from the operator's existing files and leaves the industrial network alone.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power, and other essential services depend on equipment that must keep running reliably and safely. A public notice does not automatically mean a local device should be patched. OTProof does not discover equipment, send network queries, or change controllers, gateway computers, operator screens, or supervisory systems. The operator supplies the equipment list, and OTProof retrieves public notices. NIST's Revision 3 is the published final OT guide. Revision 4 is a draft, so this project does not describe it as final. Authorized staff decide what applies, what work is safe, and whether evidence is sufficient.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six steps. First, load an equipment spreadsheet and check its required fields. Second, load a public notice from CISA or NIST, or an approved vendor website; the fixed demo examples work without internet access. Third, compare maker, product, model, and version details and open the source link. Fourth, a reviewer records whether the notice fits and explains why. Fifth, an engineer proposes a work plan and a separate approver accepts or rejects it. Sixth, the team attaches a change or test record and an approver checks it. The report saves this history. A generated summary or attached note cannot close the finding by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three fictional assets to explain the outcomes. CV-HMI-001 lists FactoryTalk View Site Edition version 13.0.0. The CISA notice names version 13.0, so OTProof shows a possible match and links the original notice. CV-HMI-002 lists version 14.0, which is outside that exact statement. CV-HMI-005 does not list a version, so OTProof asks an engineer to check instead of guessing. The notice is real, and its publication and update dates are retained. The utility, assets, and work records are fictional. A possible match is a screening result, not an engineering decision or a claim that a device is vulnerable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matching rules are designed to avoid guesses. OTProof recognizes only a small, reviewed list of spelling variations. It then compares the inventory version with the version or range printed in the notice. It does not decide from a similar-sounding product name. If the version is missing, the inventory is old, two records may describe the same device, or the source uses a format the software cannot read, the result goes to an engineer. Every result keeps the values and source text used to reach it. The current product and model list is narrow and needs testing with more operators and equipment families.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optional and helps with reading, not deciding. A local model can suggest product names, versions, vulnerability IDs, mitigations, and a short summary from a notice. The output has required fields, and quoted details are checked against the original text. This catches some unsupported claims, but it cannot prove that a summary is complete or correct. The application labels AI text as a suggestion and never lets it set applicability, approve a work plan, or close a finding. No model was installed or run for this evaluation, so AI quality has not been measured. A later test should compare its suggestions with source excerpts labeled by engineers.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drawing from left to right. The operator supplies an equipment spreadsheet, and the application retrieves public notices. One service checks the inputs, compares product and version details, and saves each result in a database. The dashboard shows the results; a report carries the source and human decisions. The implementation uses React for the web screen, FastAPI for the service, and PostgreSQL or SQLite for saved records. These are implementation choices, not a production certification. Docker packaging is included, but the Docker service was unavailable here, so a container startup was not verified. There is no connection to an industrial network.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the people do different jobs. The reviewer records whether the notice fits the equipment and why. The engineer proposes a plan; an approver accepts or rejects it. After work, the engineer adds a record or reference, and an approver checks that evidence. The application saves who did what and when. It also calculates a digital fingerprint from evidence text so a later copy can be compared. A fingerprint does not prove the original record is true or prevent a database administrator from changing it. Demo passwords are visible and only for this fictional demo. Real use needs company login and protected records.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products may already cover this need. Claroty, Tenable, and Nozomi publicly describe broader industrial security products that include equipment inventory and vulnerability management. ServiceNow and other governance, risk, and compliance tools track organizational reviews, controls, and audit work. OTProof has not been compared head-to-head and has not proved an advantage. The idea to test is whether a small, file-based workflow that keeps source links and engineering decisions together helps a team that does not want another broad platform. Interviews and integration tests with operators should decide whether it fills a real gap. The full product references are listed in the research notes.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prices are examples to discuss with buyers, not signed orders or a forecast. The model assumes three sites for each customer, a $36,000 annual subscription for each site, and $25,000 one-time setup for each new customer. Annual recurring revenue means the value of subscriptions over a year. Gross margin means the share left after direct costs to deliver the software or setup service. The 25-customer example covers 75 sites and totals $2.70 million in annual subscription income before costs. Sales, hosting, support, data setup, and integration costs are not known yet. Validate prices and costs with operators before making a business forecast.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test uses only 14 prepared examples: four that should match, four that should not match, and six that lack enough information and should go to review. OTProof returned the expected outcome for all 14. It found all four matching examples and missed none in this small test. These counts do not predict how it will perform on equipment it has never seen. The reported time is one software-only pass over 240 combinations on the development computer; it excludes the database, internet, and people. The AI model was not run, and no review-time or savings study was done.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Restate the safety rules clearly. OTProof reads the spreadsheet an operator uploads and public web pages. It does not send requests to equipment or install fixes. Uploaded spreadsheets and notice text are treated as untrusted; embedded instructions cannot tell the AI or application what to do. Only the right human role can record a review, approve a plan, or verify evidence. Still, the demo login is not safe for production, and a database administrator could alter stored history. These tests are not an independent security assessment. Before a real pilot, add company login, plan how records will be protected, review likely attack paths, test backups, and get operator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a water or energy operator and its engineers to review a controlled pilot using approved sample inventory. Include several vendors and equipment families. Ask engineers to label whether each notice applies before showing them OTProof's results, then compare any disagreements. Measure how often OTProof finds a relevant affected product, how often it misses one, how often it asks for human review, how long each review takes, and the effort needed to prepare the data. Later work could add company sign-in, stronger protection for action records, and connections to maintenance or risk tools. No customers, savings, or risk reduction are claimed today; the pilot should test those ideas.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glossary whenever a term is unfamiliar. Operational technology, or OT, means computers and controllers used to monitor or control physical processes such as water pumping or electricity generation. CISA is the US Cybersecurity and Infrastructure Security Agency, which publishes the advisories used in the demo. CVE is the public identifier assigned to a specific vulnerability. CISA KEV is a public list of vulnerabilities CISA knows have been exploited. A candidate match is a possible link produced by comparing records; it is not an engineering decision. Evidence is a work record, test result, or other reference that supports a human decision. Annual recurring revenue means the yearly value of recurring subscriptions, not profit or guaranteed sales.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43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629400" y="0"/>
            <a:ext cx="5562295" cy="6858000"/>
          </a:xfrm>
          <a:prstGeom prst="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 y="576072"/>
            <a:ext cx="3657600" cy="274320"/>
          </a:xfrm>
          <a:prstGeom prst="rect">
            <a:avLst/>
          </a:prstGeom>
          <a:noFill/>
        </p:spPr>
        <p:txBody>
          <a:bodyPr wrap="square" lIns="0" rIns="0" tIns="0" bIns="0">
            <a:spAutoFit/>
          </a:bodyPr>
          <a:lstStyle/>
          <a:p>
            <a:pPr algn="l">
              <a:defRPr sz="900" b="1">
                <a:solidFill>
                  <a:srgbClr val="8FC7BE"/>
                </a:solidFill>
                <a:latin typeface="Aptos"/>
              </a:defRPr>
            </a:pPr>
            <a:r>
              <a:t>EUREKA HACKATHON  /  OT CYBERSECURITY</a:t>
            </a:r>
          </a:p>
        </p:txBody>
      </p:sp>
      <p:sp>
        <p:nvSpPr>
          <p:cNvPr id="5" name="TextBox 4"/>
          <p:cNvSpPr txBox="1"/>
          <p:nvPr/>
        </p:nvSpPr>
        <p:spPr>
          <a:xfrm>
            <a:off x="758952" y="1325880"/>
            <a:ext cx="5394960" cy="749808"/>
          </a:xfrm>
          <a:prstGeom prst="rect">
            <a:avLst/>
          </a:prstGeom>
          <a:noFill/>
        </p:spPr>
        <p:txBody>
          <a:bodyPr wrap="square" lIns="0" rIns="0" tIns="0" bIns="0">
            <a:spAutoFit/>
          </a:bodyPr>
          <a:lstStyle/>
          <a:p>
            <a:pPr algn="l">
              <a:defRPr sz="4000" b="1">
                <a:solidFill>
                  <a:srgbClr val="FFFFFF"/>
                </a:solidFill>
                <a:latin typeface="Aptos Display"/>
              </a:defRPr>
            </a:pPr>
            <a:r>
              <a:t>OTProof</a:t>
            </a:r>
          </a:p>
        </p:txBody>
      </p:sp>
      <p:sp>
        <p:nvSpPr>
          <p:cNvPr id="6" name="TextBox 5"/>
          <p:cNvSpPr txBox="1"/>
          <p:nvPr/>
        </p:nvSpPr>
        <p:spPr>
          <a:xfrm>
            <a:off x="777240" y="2176272"/>
            <a:ext cx="5074920" cy="914400"/>
          </a:xfrm>
          <a:prstGeom prst="rect">
            <a:avLst/>
          </a:prstGeom>
          <a:noFill/>
        </p:spPr>
        <p:txBody>
          <a:bodyPr wrap="square" lIns="0" rIns="0" tIns="0" bIns="0">
            <a:spAutoFit/>
          </a:bodyPr>
          <a:lstStyle/>
          <a:p>
            <a:pPr algn="l">
              <a:defRPr sz="2000" b="0">
                <a:solidFill>
                  <a:srgbClr val="D7E5E4"/>
                </a:solidFill>
                <a:latin typeface="Aptos"/>
              </a:defRPr>
            </a:pPr>
            <a:r>
              <a:t>Check which public security notices may affect industrial equipment, then keep the human review and evidence together.</a:t>
            </a:r>
          </a:p>
        </p:txBody>
      </p:sp>
      <p:sp>
        <p:nvSpPr>
          <p:cNvPr id="7" name="TextBox 6"/>
          <p:cNvSpPr txBox="1"/>
          <p:nvPr/>
        </p:nvSpPr>
        <p:spPr>
          <a:xfrm>
            <a:off x="804672" y="3730752"/>
            <a:ext cx="5349240" cy="365760"/>
          </a:xfrm>
          <a:prstGeom prst="rect">
            <a:avLst/>
          </a:prstGeom>
          <a:noFill/>
        </p:spPr>
        <p:txBody>
          <a:bodyPr wrap="square" lIns="0" rIns="0" tIns="0" bIns="0">
            <a:spAutoFit/>
          </a:bodyPr>
          <a:lstStyle/>
          <a:p>
            <a:pPr algn="l">
              <a:defRPr sz="1200" b="0">
                <a:solidFill>
                  <a:srgbClr val="FFFFFF"/>
                </a:solidFill>
                <a:latin typeface="Aptos"/>
              </a:defRPr>
            </a:pPr>
            <a:r>
              <a:t>•  Compare the equipment list with public industrial security notices</a:t>
            </a:r>
          </a:p>
        </p:txBody>
      </p:sp>
      <p:sp>
        <p:nvSpPr>
          <p:cNvPr id="8" name="TextBox 7"/>
          <p:cNvSpPr txBox="1"/>
          <p:nvPr/>
        </p:nvSpPr>
        <p:spPr>
          <a:xfrm>
            <a:off x="804672" y="4233672"/>
            <a:ext cx="5349240" cy="365760"/>
          </a:xfrm>
          <a:prstGeom prst="rect">
            <a:avLst/>
          </a:prstGeom>
          <a:noFill/>
        </p:spPr>
        <p:txBody>
          <a:bodyPr wrap="square" lIns="0" rIns="0" tIns="0" bIns="0">
            <a:spAutoFit/>
          </a:bodyPr>
          <a:lstStyle/>
          <a:p>
            <a:pPr algn="l">
              <a:defRPr sz="1200" b="0">
                <a:solidFill>
                  <a:srgbClr val="FFFFFF"/>
                </a:solidFill>
                <a:latin typeface="Aptos"/>
              </a:defRPr>
            </a:pPr>
            <a:r>
              <a:t>•  Show what matched, what did not, and what is unknown</a:t>
            </a:r>
          </a:p>
        </p:txBody>
      </p:sp>
      <p:sp>
        <p:nvSpPr>
          <p:cNvPr id="9" name="TextBox 8"/>
          <p:cNvSpPr txBox="1"/>
          <p:nvPr/>
        </p:nvSpPr>
        <p:spPr>
          <a:xfrm>
            <a:off x="804672" y="4736592"/>
            <a:ext cx="5349240" cy="365760"/>
          </a:xfrm>
          <a:prstGeom prst="rect">
            <a:avLst/>
          </a:prstGeom>
          <a:noFill/>
        </p:spPr>
        <p:txBody>
          <a:bodyPr wrap="square" lIns="0" rIns="0" tIns="0" bIns="0">
            <a:spAutoFit/>
          </a:bodyPr>
          <a:lstStyle/>
          <a:p>
            <a:pPr algn="l">
              <a:defRPr sz="1200" b="0">
                <a:solidFill>
                  <a:srgbClr val="FFFFFF"/>
                </a:solidFill>
                <a:latin typeface="Aptos"/>
              </a:defRPr>
            </a:pPr>
            <a:r>
              <a:t>•  People decide and approve any work</a:t>
            </a:r>
          </a:p>
        </p:txBody>
      </p:sp>
      <p:sp>
        <p:nvSpPr>
          <p:cNvPr id="10" name="TextBox 9"/>
          <p:cNvSpPr txBox="1"/>
          <p:nvPr/>
        </p:nvSpPr>
        <p:spPr>
          <a:xfrm>
            <a:off x="786384" y="6208776"/>
            <a:ext cx="5303520" cy="228600"/>
          </a:xfrm>
          <a:prstGeom prst="rect">
            <a:avLst/>
          </a:prstGeom>
          <a:noFill/>
        </p:spPr>
        <p:txBody>
          <a:bodyPr wrap="square" lIns="0" rIns="0" tIns="0" bIns="0">
            <a:spAutoFit/>
          </a:bodyPr>
          <a:lstStyle/>
          <a:p>
            <a:pPr algn="l">
              <a:defRPr sz="800" b="0">
                <a:solidFill>
                  <a:srgbClr val="9BB3B5"/>
                </a:solidFill>
                <a:latin typeface="Aptos"/>
              </a:defRPr>
            </a:pPr>
            <a:r>
              <a:t>Eureka Hackathon · MVP snapshot 26 Oct 2026</a:t>
            </a:r>
          </a:p>
        </p:txBody>
      </p:sp>
      <p:sp>
        <p:nvSpPr>
          <p:cNvPr id="11" name="Rounded Rectangle 10"/>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3" name="TextBox 12"/>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READ-ONLY</a:t>
            </a:r>
          </a:p>
        </p:txBody>
      </p:sp>
      <p:sp>
        <p:nvSpPr>
          <p:cNvPr id="14" name="TextBox 13"/>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No contact with industrial equipment</a:t>
            </a:r>
          </a:p>
        </p:txBody>
      </p:sp>
      <p:sp>
        <p:nvSpPr>
          <p:cNvPr id="15" name="Rectangle 14"/>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80 fictional assets</a:t>
            </a:r>
          </a:p>
        </p:txBody>
      </p:sp>
      <p:sp>
        <p:nvSpPr>
          <p:cNvPr id="17" name="Rectangle 16"/>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3 real CISA advisories</a:t>
            </a:r>
          </a:p>
        </p:txBody>
      </p:sp>
      <p:sp>
        <p:nvSpPr>
          <p:cNvPr id="19" name="Rectangle 18"/>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Offline-ready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02</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Why matching is harder than it looks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The security notice and the equipment list often describe the same product in different ways.</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Inventory identifiers and advisory product language often differ</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A version match can be exact, excluded, or impossible to confirm</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Teams must preserve the source and explain what they decided</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3 RECORDS</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Inventory · advisory · remediation evidence</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Asset inventory</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Public advisory</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Engineering record</a:t>
            </a:r>
          </a:p>
        </p:txBody>
      </p:sp>
      <p:sp>
        <p:nvSpPr>
          <p:cNvPr id="25" name="TextBox 2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NIST SP 800-82 Rev. 3 final · https://csrc.nist.gov/pubs/sp/800/82/r3/final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03</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Essential services need careful decisions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Industrial control technology helps run water, energy, and other services, so changes need engineering review.</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A vulnerability label alone does not prove local applicability</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A patch suggestion is not an approved operational change</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Human review and source traceability belong in the workflow</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NO DEVICE</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Discovery or configuration change</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Operator's inventory file</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Approved public websites</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Human-led review</a:t>
            </a:r>
          </a:p>
        </p:txBody>
      </p:sp>
      <p:sp>
        <p:nvSpPr>
          <p:cNvPr id="25" name="TextBox 2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NIST SP 800-82 Rev. 3 final; Rev. 4 remains an initial public draft as of 26 Oct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04</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From import to report: six clear steps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Follow the notice, compare the equipment, record the people’s decisions, and save the evidence.</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Check the equipment file and load public security notices</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Compare maker, product, model, and installed version</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Record decisions, work approval, and supporting evidence</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Rounded Rectangle 16"/>
          <p:cNvSpPr/>
          <p:nvPr/>
        </p:nvSpPr>
        <p:spPr>
          <a:xfrm>
            <a:off x="7178040" y="2441448"/>
            <a:ext cx="438912" cy="38404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78040" y="2514600"/>
            <a:ext cx="438912" cy="228600"/>
          </a:xfrm>
          <a:prstGeom prst="rect">
            <a:avLst/>
          </a:prstGeom>
          <a:noFill/>
        </p:spPr>
        <p:txBody>
          <a:bodyPr wrap="square" lIns="0" rIns="0" tIns="0" bIns="0">
            <a:spAutoFit/>
          </a:bodyPr>
          <a:lstStyle/>
          <a:p>
            <a:pPr algn="ctr">
              <a:defRPr sz="1100" b="1">
                <a:solidFill>
                  <a:srgbClr val="FFFFFF"/>
                </a:solidFill>
                <a:latin typeface="Aptos"/>
              </a:defRPr>
            </a:pPr>
            <a:r>
              <a:t>1</a:t>
            </a:r>
          </a:p>
        </p:txBody>
      </p:sp>
      <p:sp>
        <p:nvSpPr>
          <p:cNvPr id="19" name="TextBox 18"/>
          <p:cNvSpPr txBox="1"/>
          <p:nvPr/>
        </p:nvSpPr>
        <p:spPr>
          <a:xfrm>
            <a:off x="7818120" y="2514600"/>
            <a:ext cx="3291840" cy="228600"/>
          </a:xfrm>
          <a:prstGeom prst="rect">
            <a:avLst/>
          </a:prstGeom>
          <a:noFill/>
        </p:spPr>
        <p:txBody>
          <a:bodyPr wrap="square" lIns="0" rIns="0" tIns="0" bIns="0">
            <a:spAutoFit/>
          </a:bodyPr>
          <a:lstStyle/>
          <a:p>
            <a:pPr algn="l">
              <a:defRPr sz="1100" b="1">
                <a:solidFill>
                  <a:srgbClr val="FFFFFF"/>
                </a:solidFill>
                <a:latin typeface="Aptos"/>
              </a:defRPr>
            </a:pPr>
            <a:r>
              <a:t>IMPORT</a:t>
            </a:r>
          </a:p>
        </p:txBody>
      </p:sp>
      <p:sp>
        <p:nvSpPr>
          <p:cNvPr id="20" name="Rounded Rectangle 19"/>
          <p:cNvSpPr/>
          <p:nvPr/>
        </p:nvSpPr>
        <p:spPr>
          <a:xfrm>
            <a:off x="7178040" y="2953512"/>
            <a:ext cx="438912" cy="38404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78040" y="3026664"/>
            <a:ext cx="438912" cy="228600"/>
          </a:xfrm>
          <a:prstGeom prst="rect">
            <a:avLst/>
          </a:prstGeom>
          <a:noFill/>
        </p:spPr>
        <p:txBody>
          <a:bodyPr wrap="square" lIns="0" rIns="0" tIns="0" bIns="0">
            <a:spAutoFit/>
          </a:bodyPr>
          <a:lstStyle/>
          <a:p>
            <a:pPr algn="ctr">
              <a:defRPr sz="1100" b="1">
                <a:solidFill>
                  <a:srgbClr val="FFFFFF"/>
                </a:solidFill>
                <a:latin typeface="Aptos"/>
              </a:defRPr>
            </a:pPr>
            <a:r>
              <a:t>2</a:t>
            </a:r>
          </a:p>
        </p:txBody>
      </p:sp>
      <p:sp>
        <p:nvSpPr>
          <p:cNvPr id="22" name="TextBox 21"/>
          <p:cNvSpPr txBox="1"/>
          <p:nvPr/>
        </p:nvSpPr>
        <p:spPr>
          <a:xfrm>
            <a:off x="7818120" y="3026664"/>
            <a:ext cx="3291840" cy="228600"/>
          </a:xfrm>
          <a:prstGeom prst="rect">
            <a:avLst/>
          </a:prstGeom>
          <a:noFill/>
        </p:spPr>
        <p:txBody>
          <a:bodyPr wrap="square" lIns="0" rIns="0" tIns="0" bIns="0">
            <a:spAutoFit/>
          </a:bodyPr>
          <a:lstStyle/>
          <a:p>
            <a:pPr algn="l">
              <a:defRPr sz="1100" b="1">
                <a:solidFill>
                  <a:srgbClr val="FFFFFF"/>
                </a:solidFill>
                <a:latin typeface="Aptos"/>
              </a:defRPr>
            </a:pPr>
            <a:r>
              <a:t>MATCH</a:t>
            </a:r>
          </a:p>
        </p:txBody>
      </p:sp>
      <p:sp>
        <p:nvSpPr>
          <p:cNvPr id="23" name="Rounded Rectangle 22"/>
          <p:cNvSpPr/>
          <p:nvPr/>
        </p:nvSpPr>
        <p:spPr>
          <a:xfrm>
            <a:off x="7178040" y="3465576"/>
            <a:ext cx="438912" cy="38404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78040" y="3538728"/>
            <a:ext cx="438912" cy="228600"/>
          </a:xfrm>
          <a:prstGeom prst="rect">
            <a:avLst/>
          </a:prstGeom>
          <a:noFill/>
        </p:spPr>
        <p:txBody>
          <a:bodyPr wrap="square" lIns="0" rIns="0" tIns="0" bIns="0">
            <a:spAutoFit/>
          </a:bodyPr>
          <a:lstStyle/>
          <a:p>
            <a:pPr algn="ctr">
              <a:defRPr sz="1100" b="1">
                <a:solidFill>
                  <a:srgbClr val="FFFFFF"/>
                </a:solidFill>
                <a:latin typeface="Aptos"/>
              </a:defRPr>
            </a:pPr>
            <a:r>
              <a:t>3</a:t>
            </a:r>
          </a:p>
        </p:txBody>
      </p:sp>
      <p:sp>
        <p:nvSpPr>
          <p:cNvPr id="25" name="TextBox 24"/>
          <p:cNvSpPr txBox="1"/>
          <p:nvPr/>
        </p:nvSpPr>
        <p:spPr>
          <a:xfrm>
            <a:off x="7818120" y="3538728"/>
            <a:ext cx="3291840" cy="228600"/>
          </a:xfrm>
          <a:prstGeom prst="rect">
            <a:avLst/>
          </a:prstGeom>
          <a:noFill/>
        </p:spPr>
        <p:txBody>
          <a:bodyPr wrap="square" lIns="0" rIns="0" tIns="0" bIns="0">
            <a:spAutoFit/>
          </a:bodyPr>
          <a:lstStyle/>
          <a:p>
            <a:pPr algn="l">
              <a:defRPr sz="1100" b="1">
                <a:solidFill>
                  <a:srgbClr val="FFFFFF"/>
                </a:solidFill>
                <a:latin typeface="Aptos"/>
              </a:defRPr>
            </a:pPr>
            <a:r>
              <a:t>REVIEW</a:t>
            </a:r>
          </a:p>
        </p:txBody>
      </p:sp>
      <p:sp>
        <p:nvSpPr>
          <p:cNvPr id="26" name="Rounded Rectangle 25"/>
          <p:cNvSpPr/>
          <p:nvPr/>
        </p:nvSpPr>
        <p:spPr>
          <a:xfrm>
            <a:off x="7178040" y="3977639"/>
            <a:ext cx="438912" cy="38404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78040" y="4050791"/>
            <a:ext cx="438912" cy="228600"/>
          </a:xfrm>
          <a:prstGeom prst="rect">
            <a:avLst/>
          </a:prstGeom>
          <a:noFill/>
        </p:spPr>
        <p:txBody>
          <a:bodyPr wrap="square" lIns="0" rIns="0" tIns="0" bIns="0">
            <a:spAutoFit/>
          </a:bodyPr>
          <a:lstStyle/>
          <a:p>
            <a:pPr algn="ctr">
              <a:defRPr sz="1100" b="1">
                <a:solidFill>
                  <a:srgbClr val="FFFFFF"/>
                </a:solidFill>
                <a:latin typeface="Aptos"/>
              </a:defRPr>
            </a:pPr>
            <a:r>
              <a:t>4</a:t>
            </a:r>
          </a:p>
        </p:txBody>
      </p:sp>
      <p:sp>
        <p:nvSpPr>
          <p:cNvPr id="28" name="TextBox 27"/>
          <p:cNvSpPr txBox="1"/>
          <p:nvPr/>
        </p:nvSpPr>
        <p:spPr>
          <a:xfrm>
            <a:off x="7818120" y="4050791"/>
            <a:ext cx="3291840" cy="228600"/>
          </a:xfrm>
          <a:prstGeom prst="rect">
            <a:avLst/>
          </a:prstGeom>
          <a:noFill/>
        </p:spPr>
        <p:txBody>
          <a:bodyPr wrap="square" lIns="0" rIns="0" tIns="0" bIns="0">
            <a:spAutoFit/>
          </a:bodyPr>
          <a:lstStyle/>
          <a:p>
            <a:pPr algn="l">
              <a:defRPr sz="1100" b="1">
                <a:solidFill>
                  <a:srgbClr val="FFFFFF"/>
                </a:solidFill>
                <a:latin typeface="Aptos"/>
              </a:defRPr>
            </a:pPr>
            <a:r>
              <a:t>PLAN</a:t>
            </a:r>
          </a:p>
        </p:txBody>
      </p:sp>
      <p:sp>
        <p:nvSpPr>
          <p:cNvPr id="29" name="Rounded Rectangle 28"/>
          <p:cNvSpPr/>
          <p:nvPr/>
        </p:nvSpPr>
        <p:spPr>
          <a:xfrm>
            <a:off x="7178040" y="4489704"/>
            <a:ext cx="438912" cy="38404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78040" y="4562856"/>
            <a:ext cx="438912" cy="228600"/>
          </a:xfrm>
          <a:prstGeom prst="rect">
            <a:avLst/>
          </a:prstGeom>
          <a:noFill/>
        </p:spPr>
        <p:txBody>
          <a:bodyPr wrap="square" lIns="0" rIns="0" tIns="0" bIns="0">
            <a:spAutoFit/>
          </a:bodyPr>
          <a:lstStyle/>
          <a:p>
            <a:pPr algn="ctr">
              <a:defRPr sz="1100" b="1">
                <a:solidFill>
                  <a:srgbClr val="FFFFFF"/>
                </a:solidFill>
                <a:latin typeface="Aptos"/>
              </a:defRPr>
            </a:pPr>
            <a:r>
              <a:t>5</a:t>
            </a:r>
          </a:p>
        </p:txBody>
      </p:sp>
      <p:sp>
        <p:nvSpPr>
          <p:cNvPr id="31" name="TextBox 30"/>
          <p:cNvSpPr txBox="1"/>
          <p:nvPr/>
        </p:nvSpPr>
        <p:spPr>
          <a:xfrm>
            <a:off x="7818120" y="4562856"/>
            <a:ext cx="3291840" cy="228600"/>
          </a:xfrm>
          <a:prstGeom prst="rect">
            <a:avLst/>
          </a:prstGeom>
          <a:noFill/>
        </p:spPr>
        <p:txBody>
          <a:bodyPr wrap="square" lIns="0" rIns="0" tIns="0" bIns="0">
            <a:spAutoFit/>
          </a:bodyPr>
          <a:lstStyle/>
          <a:p>
            <a:pPr algn="l">
              <a:defRPr sz="1100" b="1">
                <a:solidFill>
                  <a:srgbClr val="FFFFFF"/>
                </a:solidFill>
                <a:latin typeface="Aptos"/>
              </a:defRPr>
            </a:pPr>
            <a:r>
              <a:t>EVIDENCE</a:t>
            </a:r>
          </a:p>
        </p:txBody>
      </p:sp>
      <p:sp>
        <p:nvSpPr>
          <p:cNvPr id="32" name="Rounded Rectangle 31"/>
          <p:cNvSpPr/>
          <p:nvPr/>
        </p:nvSpPr>
        <p:spPr>
          <a:xfrm>
            <a:off x="7178040" y="5001768"/>
            <a:ext cx="438912" cy="38404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5074920"/>
            <a:ext cx="438912" cy="228600"/>
          </a:xfrm>
          <a:prstGeom prst="rect">
            <a:avLst/>
          </a:prstGeom>
          <a:noFill/>
        </p:spPr>
        <p:txBody>
          <a:bodyPr wrap="square" lIns="0" rIns="0" tIns="0" bIns="0">
            <a:spAutoFit/>
          </a:bodyPr>
          <a:lstStyle/>
          <a:p>
            <a:pPr algn="ctr">
              <a:defRPr sz="1100" b="1">
                <a:solidFill>
                  <a:srgbClr val="FFFFFF"/>
                </a:solidFill>
                <a:latin typeface="Aptos"/>
              </a:defRPr>
            </a:pPr>
            <a:r>
              <a:t>6</a:t>
            </a:r>
          </a:p>
        </p:txBody>
      </p:sp>
      <p:sp>
        <p:nvSpPr>
          <p:cNvPr id="34" name="TextBox 33"/>
          <p:cNvSpPr txBox="1"/>
          <p:nvPr/>
        </p:nvSpPr>
        <p:spPr>
          <a:xfrm>
            <a:off x="7818120" y="5074920"/>
            <a:ext cx="3291840" cy="228600"/>
          </a:xfrm>
          <a:prstGeom prst="rect">
            <a:avLst/>
          </a:prstGeom>
          <a:noFill/>
        </p:spPr>
        <p:txBody>
          <a:bodyPr wrap="square" lIns="0" rIns="0" tIns="0" bIns="0">
            <a:spAutoFit/>
          </a:bodyPr>
          <a:lstStyle/>
          <a:p>
            <a:pPr algn="l">
              <a:defRPr sz="1100" b="1">
                <a:solidFill>
                  <a:srgbClr val="FFFFFF"/>
                </a:solidFill>
                <a:latin typeface="Aptos"/>
              </a:defRPr>
            </a:pPr>
            <a:r>
              <a:t>VERIFY</a:t>
            </a:r>
          </a:p>
        </p:txBody>
      </p:sp>
      <p:sp>
        <p:nvSpPr>
          <p:cNvPr id="35" name="TextBox 3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End-to-end journey is implemented in the MVP dashboard and API.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05</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Demo: three assets, three distinct outcomes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A CISA FactoryTalk View advisory exposes why version and inventory quality matter.</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FactoryTalk View SE 13.0.0 → possible match</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FactoryTalk View SE 14.0 → outside the exact affected version</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Same product with missing firmware → engineering review</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ICSA-24-226-06</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CISA notice · published 13 Aug 2024 · updated 29 Aug 2024</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CVE-2024-7513</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Source statement: version 13.0</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Source URL retained</a:t>
            </a:r>
          </a:p>
        </p:txBody>
      </p:sp>
      <p:sp>
        <p:nvSpPr>
          <p:cNvPr id="25" name="TextBox 2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https://www.cisa.gov/news-events/ics-advisories/icsa-24-226-06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06</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No unsupported guesses: show the matching rules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Compare exact product and version details. If the records are incomplete, ask a person to check.</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Correct only known spelling variations</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Compare the installed version with the notice’s affected version or range</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Send missing, old, duplicate, or unclear records to human review</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3 OUTCOMES</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Applicable · not applicable · manual verification</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Product names match</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Version fits the notice</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Reason and source link shown</a:t>
            </a:r>
          </a:p>
        </p:txBody>
      </p:sp>
      <p:sp>
        <p:nvSpPr>
          <p:cNvPr id="25" name="TextBox 2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Matcher implementation: backend/app/services/matching.py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07</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AI can read; people make the decisions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An optional local AI helper suggests details from a notice. It cannot decide whether equipment is affected.</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Suggest product, version, vulnerability ID, and mitigation details</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Check suggested quotes and details against the original notice</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Never let AI approve work or mark equipment fixed</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OPTIONAL</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Optional local AI · not run in evaluation</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Required fields checked</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Source details compared</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Suggestion only</a:t>
            </a:r>
          </a:p>
        </p:txBody>
      </p:sp>
      <p:sp>
        <p:nvSpPr>
          <p:cNvPr id="25" name="TextBox 2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Optional local model; no model weights included and no inference run in evaluation.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08</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How the software is put together</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A web page, one service, and a database keep the process simple to inspect and run.</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Web dashboard and a service that checks and compares records</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Database for decisions; PDF and JSON reports for handoff</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Optional AI helper runs locally and only drafts suggestions</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Rounded Rectangle 16"/>
          <p:cNvSpPr/>
          <p:nvPr/>
        </p:nvSpPr>
        <p:spPr>
          <a:xfrm>
            <a:off x="7196328" y="2505456"/>
            <a:ext cx="1719072" cy="658368"/>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06056" y="2679192"/>
            <a:ext cx="1499616" cy="329184"/>
          </a:xfrm>
          <a:prstGeom prst="rect">
            <a:avLst/>
          </a:prstGeom>
          <a:noFill/>
        </p:spPr>
        <p:txBody>
          <a:bodyPr wrap="square" lIns="0" rIns="0" tIns="0" bIns="0">
            <a:spAutoFit/>
          </a:bodyPr>
          <a:lstStyle/>
          <a:p>
            <a:pPr algn="ctr">
              <a:defRPr sz="900" b="1">
                <a:solidFill>
                  <a:srgbClr val="FFFFFF"/>
                </a:solidFill>
                <a:latin typeface="Aptos"/>
              </a:defRPr>
            </a:pPr>
            <a:r>
              <a:t>INVENTORY + NOTICES</a:t>
            </a:r>
          </a:p>
        </p:txBody>
      </p:sp>
      <p:sp>
        <p:nvSpPr>
          <p:cNvPr id="19" name="Rounded Rectangle 18"/>
          <p:cNvSpPr/>
          <p:nvPr/>
        </p:nvSpPr>
        <p:spPr>
          <a:xfrm>
            <a:off x="9253728" y="2505456"/>
            <a:ext cx="1719072" cy="658368"/>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63456" y="2679192"/>
            <a:ext cx="1499616" cy="329184"/>
          </a:xfrm>
          <a:prstGeom prst="rect">
            <a:avLst/>
          </a:prstGeom>
          <a:noFill/>
        </p:spPr>
        <p:txBody>
          <a:bodyPr wrap="square" lIns="0" rIns="0" tIns="0" bIns="0">
            <a:spAutoFit/>
          </a:bodyPr>
          <a:lstStyle/>
          <a:p>
            <a:pPr algn="ctr">
              <a:defRPr sz="900" b="1">
                <a:solidFill>
                  <a:srgbClr val="FFFFFF"/>
                </a:solidFill>
                <a:latin typeface="Aptos"/>
              </a:defRPr>
            </a:pPr>
            <a:r>
              <a:t>CHECK + SAVE</a:t>
            </a:r>
          </a:p>
        </p:txBody>
      </p:sp>
      <p:sp>
        <p:nvSpPr>
          <p:cNvPr id="21" name="Rounded Rectangle 20"/>
          <p:cNvSpPr/>
          <p:nvPr/>
        </p:nvSpPr>
        <p:spPr>
          <a:xfrm>
            <a:off x="7196328" y="3739896"/>
            <a:ext cx="1719072" cy="658368"/>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06056" y="3913632"/>
            <a:ext cx="1499616" cy="329184"/>
          </a:xfrm>
          <a:prstGeom prst="rect">
            <a:avLst/>
          </a:prstGeom>
          <a:noFill/>
        </p:spPr>
        <p:txBody>
          <a:bodyPr wrap="square" lIns="0" rIns="0" tIns="0" bIns="0">
            <a:spAutoFit/>
          </a:bodyPr>
          <a:lstStyle/>
          <a:p>
            <a:pPr algn="ctr">
              <a:defRPr sz="900" b="1">
                <a:solidFill>
                  <a:srgbClr val="FFFFFF"/>
                </a:solidFill>
                <a:latin typeface="Aptos"/>
              </a:defRPr>
            </a:pPr>
            <a:r>
              <a:t>MATCH + REVIEW</a:t>
            </a:r>
          </a:p>
        </p:txBody>
      </p:sp>
      <p:sp>
        <p:nvSpPr>
          <p:cNvPr id="23" name="Rounded Rectangle 22"/>
          <p:cNvSpPr/>
          <p:nvPr/>
        </p:nvSpPr>
        <p:spPr>
          <a:xfrm>
            <a:off x="9253728" y="3739896"/>
            <a:ext cx="1719072" cy="658368"/>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63456" y="3913632"/>
            <a:ext cx="1499616" cy="329184"/>
          </a:xfrm>
          <a:prstGeom prst="rect">
            <a:avLst/>
          </a:prstGeom>
          <a:noFill/>
        </p:spPr>
        <p:txBody>
          <a:bodyPr wrap="square" lIns="0" rIns="0" tIns="0" bIns="0">
            <a:spAutoFit/>
          </a:bodyPr>
          <a:lstStyle/>
          <a:p>
            <a:pPr algn="ctr">
              <a:defRPr sz="900" b="1">
                <a:solidFill>
                  <a:srgbClr val="FFFFFF"/>
                </a:solidFill>
                <a:latin typeface="Aptos"/>
              </a:defRPr>
            </a:pPr>
            <a:r>
              <a:t>DASHBOARD + REPORT</a:t>
            </a:r>
          </a:p>
        </p:txBody>
      </p:sp>
      <p:cxnSp>
        <p:nvCxnSpPr>
          <p:cNvPr id="25" name="Connector 24"/>
          <p:cNvCxnSpPr/>
          <p:nvPr/>
        </p:nvCxnSpPr>
        <p:spPr>
          <a:xfrm>
            <a:off x="8915400" y="2834640"/>
            <a:ext cx="512064" cy="0"/>
          </a:xfrm>
          <a:prstGeom prst="line">
            <a:avLst/>
          </a:prstGeom>
          <a:ln w="25400">
            <a:solidFill>
              <a:srgbClr val="25A99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915400" y="4069080"/>
            <a:ext cx="512064" cy="0"/>
          </a:xfrm>
          <a:prstGeom prst="line">
            <a:avLst/>
          </a:prstGeom>
          <a:ln w="25400">
            <a:solidFill>
              <a:srgbClr val="25A99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315200" y="5166360"/>
            <a:ext cx="3794760" cy="420624"/>
          </a:xfrm>
          <a:prstGeom prst="rect">
            <a:avLst/>
          </a:prstGeom>
          <a:noFill/>
        </p:spPr>
        <p:txBody>
          <a:bodyPr wrap="square" lIns="0" rIns="0" tIns="0" bIns="0">
            <a:spAutoFit/>
          </a:bodyPr>
          <a:lstStyle/>
          <a:p>
            <a:pPr algn="ctr">
              <a:defRPr sz="1000" b="0">
                <a:solidFill>
                  <a:srgbClr val="C4DBD8"/>
                </a:solidFill>
                <a:latin typeface="Aptos"/>
              </a:defRPr>
            </a:pPr>
            <a:r>
              <a:t>OPTIONAL LOCAL AI · suggestion only</a:t>
            </a:r>
          </a:p>
        </p:txBody>
      </p:sp>
      <p:sp>
        <p:nvSpPr>
          <p:cNvPr id="28" name="TextBox 27"/>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Full technical design: OTProof_Technical_Design.md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09</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People own every decision</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A review, a work plan, approval, and proof of completed work are separate steps.</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Reviewer records applicability with a rationale</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Engineer proposes action; approver accepts or rejects</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Approver verifies evidence before the workflow closes</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4 ROLES</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Engineer · reviewer · approver · admin</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Decision</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Ticket</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Evidence</a:t>
            </a:r>
          </a:p>
        </p:txBody>
      </p:sp>
      <p:sp>
        <p:nvSpPr>
          <p:cNvPr id="25" name="Rectangle 24"/>
          <p:cNvSpPr/>
          <p:nvPr/>
        </p:nvSpPr>
        <p:spPr>
          <a:xfrm>
            <a:off x="7178040" y="5495544"/>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15783" y="5449824"/>
            <a:ext cx="3904487" cy="329184"/>
          </a:xfrm>
          <a:prstGeom prst="rect">
            <a:avLst/>
          </a:prstGeom>
          <a:noFill/>
        </p:spPr>
        <p:txBody>
          <a:bodyPr wrap="square" lIns="0" rIns="0" tIns="0" bIns="0">
            <a:spAutoFit/>
          </a:bodyPr>
          <a:lstStyle/>
          <a:p>
            <a:pPr algn="l">
              <a:defRPr sz="1000" b="0">
                <a:solidFill>
                  <a:srgbClr val="FFFFFF"/>
                </a:solidFill>
                <a:latin typeface="Aptos"/>
              </a:defRPr>
            </a:pPr>
            <a:r>
              <a:t>Verification</a:t>
            </a:r>
          </a:p>
        </p:txBody>
      </p:sp>
      <p:sp>
        <p:nvSpPr>
          <p:cNvPr id="27" name="TextBox 26"/>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Demo passwords are visible; company login is needed before real 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10</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Where OTProof could fit</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Existing security platforms may already help. OTProof’s possible role is a focused review and evidence workflow.</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OT security platforms offer asset visibility and vulnerability management</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Risk and compliance tools track controls, reviews, and audit records</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Test whether this focused workflow fills a real gap or connects to them</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Rounded Rectangle 16"/>
          <p:cNvSpPr/>
          <p:nvPr/>
        </p:nvSpPr>
        <p:spPr>
          <a:xfrm>
            <a:off x="7132320" y="2450592"/>
            <a:ext cx="1463040" cy="457200"/>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5472" y="2569464"/>
            <a:ext cx="1307592" cy="182880"/>
          </a:xfrm>
          <a:prstGeom prst="rect">
            <a:avLst/>
          </a:prstGeom>
          <a:noFill/>
        </p:spPr>
        <p:txBody>
          <a:bodyPr wrap="square" lIns="0" rIns="0" tIns="0" bIns="0">
            <a:spAutoFit/>
          </a:bodyPr>
          <a:lstStyle/>
          <a:p>
            <a:pPr algn="ctr">
              <a:defRPr sz="800" b="1">
                <a:solidFill>
                  <a:srgbClr val="FFFFFF"/>
                </a:solidFill>
                <a:latin typeface="Aptos"/>
              </a:defRPr>
            </a:pPr>
            <a:r>
              <a:t>CLAROTY</a:t>
            </a:r>
          </a:p>
        </p:txBody>
      </p:sp>
      <p:sp>
        <p:nvSpPr>
          <p:cNvPr id="19" name="TextBox 18"/>
          <p:cNvSpPr txBox="1"/>
          <p:nvPr/>
        </p:nvSpPr>
        <p:spPr>
          <a:xfrm>
            <a:off x="8805672" y="2532888"/>
            <a:ext cx="2414016" cy="283464"/>
          </a:xfrm>
          <a:prstGeom prst="rect">
            <a:avLst/>
          </a:prstGeom>
          <a:noFill/>
        </p:spPr>
        <p:txBody>
          <a:bodyPr wrap="square" lIns="0" rIns="0" tIns="0" bIns="0">
            <a:spAutoFit/>
          </a:bodyPr>
          <a:lstStyle/>
          <a:p>
            <a:pPr algn="l">
              <a:defRPr sz="900" b="0">
                <a:solidFill>
                  <a:srgbClr val="C4DBD8"/>
                </a:solidFill>
                <a:latin typeface="Aptos"/>
              </a:defRPr>
            </a:pPr>
            <a:r>
              <a:t>Broader platform / workflow</a:t>
            </a:r>
          </a:p>
        </p:txBody>
      </p:sp>
      <p:sp>
        <p:nvSpPr>
          <p:cNvPr id="20" name="Rounded Rectangle 19"/>
          <p:cNvSpPr/>
          <p:nvPr/>
        </p:nvSpPr>
        <p:spPr>
          <a:xfrm>
            <a:off x="7132320" y="3127248"/>
            <a:ext cx="1463040" cy="457200"/>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05472" y="3246120"/>
            <a:ext cx="1307592" cy="182880"/>
          </a:xfrm>
          <a:prstGeom prst="rect">
            <a:avLst/>
          </a:prstGeom>
          <a:noFill/>
        </p:spPr>
        <p:txBody>
          <a:bodyPr wrap="square" lIns="0" rIns="0" tIns="0" bIns="0">
            <a:spAutoFit/>
          </a:bodyPr>
          <a:lstStyle/>
          <a:p>
            <a:pPr algn="ctr">
              <a:defRPr sz="800" b="1">
                <a:solidFill>
                  <a:srgbClr val="FFFFFF"/>
                </a:solidFill>
                <a:latin typeface="Aptos"/>
              </a:defRPr>
            </a:pPr>
            <a:r>
              <a:t>TENABLE</a:t>
            </a:r>
          </a:p>
        </p:txBody>
      </p:sp>
      <p:sp>
        <p:nvSpPr>
          <p:cNvPr id="22" name="TextBox 21"/>
          <p:cNvSpPr txBox="1"/>
          <p:nvPr/>
        </p:nvSpPr>
        <p:spPr>
          <a:xfrm>
            <a:off x="8805672" y="3209544"/>
            <a:ext cx="2414016" cy="283464"/>
          </a:xfrm>
          <a:prstGeom prst="rect">
            <a:avLst/>
          </a:prstGeom>
          <a:noFill/>
        </p:spPr>
        <p:txBody>
          <a:bodyPr wrap="square" lIns="0" rIns="0" tIns="0" bIns="0">
            <a:spAutoFit/>
          </a:bodyPr>
          <a:lstStyle/>
          <a:p>
            <a:pPr algn="l">
              <a:defRPr sz="900" b="0">
                <a:solidFill>
                  <a:srgbClr val="C4DBD8"/>
                </a:solidFill>
                <a:latin typeface="Aptos"/>
              </a:defRPr>
            </a:pPr>
            <a:r>
              <a:t>Broader platform / workflow</a:t>
            </a:r>
          </a:p>
        </p:txBody>
      </p:sp>
      <p:sp>
        <p:nvSpPr>
          <p:cNvPr id="23" name="Rounded Rectangle 22"/>
          <p:cNvSpPr/>
          <p:nvPr/>
        </p:nvSpPr>
        <p:spPr>
          <a:xfrm>
            <a:off x="7132320" y="3803904"/>
            <a:ext cx="1463040" cy="457200"/>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05472" y="3922776"/>
            <a:ext cx="1307592" cy="182880"/>
          </a:xfrm>
          <a:prstGeom prst="rect">
            <a:avLst/>
          </a:prstGeom>
          <a:noFill/>
        </p:spPr>
        <p:txBody>
          <a:bodyPr wrap="square" lIns="0" rIns="0" tIns="0" bIns="0">
            <a:spAutoFit/>
          </a:bodyPr>
          <a:lstStyle/>
          <a:p>
            <a:pPr algn="ctr">
              <a:defRPr sz="800" b="1">
                <a:solidFill>
                  <a:srgbClr val="FFFFFF"/>
                </a:solidFill>
                <a:latin typeface="Aptos"/>
              </a:defRPr>
            </a:pPr>
            <a:r>
              <a:t>NOZOMI</a:t>
            </a:r>
          </a:p>
        </p:txBody>
      </p:sp>
      <p:sp>
        <p:nvSpPr>
          <p:cNvPr id="25" name="TextBox 24"/>
          <p:cNvSpPr txBox="1"/>
          <p:nvPr/>
        </p:nvSpPr>
        <p:spPr>
          <a:xfrm>
            <a:off x="8805672" y="3886200"/>
            <a:ext cx="2414016" cy="283464"/>
          </a:xfrm>
          <a:prstGeom prst="rect">
            <a:avLst/>
          </a:prstGeom>
          <a:noFill/>
        </p:spPr>
        <p:txBody>
          <a:bodyPr wrap="square" lIns="0" rIns="0" tIns="0" bIns="0">
            <a:spAutoFit/>
          </a:bodyPr>
          <a:lstStyle/>
          <a:p>
            <a:pPr algn="l">
              <a:defRPr sz="900" b="0">
                <a:solidFill>
                  <a:srgbClr val="C4DBD8"/>
                </a:solidFill>
                <a:latin typeface="Aptos"/>
              </a:defRPr>
            </a:pPr>
            <a:r>
              <a:t>Broader platform / workflow</a:t>
            </a:r>
          </a:p>
        </p:txBody>
      </p:sp>
      <p:sp>
        <p:nvSpPr>
          <p:cNvPr id="26" name="Rounded Rectangle 25"/>
          <p:cNvSpPr/>
          <p:nvPr/>
        </p:nvSpPr>
        <p:spPr>
          <a:xfrm>
            <a:off x="7132320" y="4480560"/>
            <a:ext cx="1463040" cy="457200"/>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4599432"/>
            <a:ext cx="1307592" cy="182880"/>
          </a:xfrm>
          <a:prstGeom prst="rect">
            <a:avLst/>
          </a:prstGeom>
          <a:noFill/>
        </p:spPr>
        <p:txBody>
          <a:bodyPr wrap="square" lIns="0" rIns="0" tIns="0" bIns="0">
            <a:spAutoFit/>
          </a:bodyPr>
          <a:lstStyle/>
          <a:p>
            <a:pPr algn="ctr">
              <a:defRPr sz="800" b="1">
                <a:solidFill>
                  <a:srgbClr val="FFFFFF"/>
                </a:solidFill>
                <a:latin typeface="Aptos"/>
              </a:defRPr>
            </a:pPr>
            <a:r>
              <a:t>RISK / AUDIT</a:t>
            </a:r>
          </a:p>
        </p:txBody>
      </p:sp>
      <p:sp>
        <p:nvSpPr>
          <p:cNvPr id="28" name="TextBox 27"/>
          <p:cNvSpPr txBox="1"/>
          <p:nvPr/>
        </p:nvSpPr>
        <p:spPr>
          <a:xfrm>
            <a:off x="8805672" y="4562856"/>
            <a:ext cx="2414016" cy="283464"/>
          </a:xfrm>
          <a:prstGeom prst="rect">
            <a:avLst/>
          </a:prstGeom>
          <a:noFill/>
        </p:spPr>
        <p:txBody>
          <a:bodyPr wrap="square" lIns="0" rIns="0" tIns="0" bIns="0">
            <a:spAutoFit/>
          </a:bodyPr>
          <a:lstStyle/>
          <a:p>
            <a:pPr algn="l">
              <a:defRPr sz="900" b="0">
                <a:solidFill>
                  <a:srgbClr val="C4DBD8"/>
                </a:solidFill>
                <a:latin typeface="Aptos"/>
              </a:defRPr>
            </a:pPr>
            <a:r>
              <a:t>Broader platform / workflow</a:t>
            </a:r>
          </a:p>
        </p:txBody>
      </p:sp>
      <p:sp>
        <p:nvSpPr>
          <p:cNvPr id="29" name="TextBox 28"/>
          <p:cNvSpPr txBox="1"/>
          <p:nvPr/>
        </p:nvSpPr>
        <p:spPr>
          <a:xfrm>
            <a:off x="7315200" y="5413248"/>
            <a:ext cx="3794760" cy="274320"/>
          </a:xfrm>
          <a:prstGeom prst="rect">
            <a:avLst/>
          </a:prstGeom>
          <a:noFill/>
        </p:spPr>
        <p:txBody>
          <a:bodyPr wrap="square" lIns="0" rIns="0" tIns="0" bIns="0">
            <a:spAutoFit/>
          </a:bodyPr>
          <a:lstStyle/>
          <a:p>
            <a:pPr algn="ctr">
              <a:defRPr sz="900" b="1">
                <a:solidFill>
                  <a:srgbClr val="8FC7BE"/>
                </a:solidFill>
                <a:latin typeface="Aptos"/>
              </a:defRPr>
            </a:pPr>
            <a:r>
              <a:t>OTProof: focused evidence workflow hypothesis</a:t>
            </a:r>
          </a:p>
        </p:txBody>
      </p:sp>
      <p:sp>
        <p:nvSpPr>
          <p:cNvPr id="30" name="TextBox 29"/>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Claroty · Tenable · Nozomi · ServiceNow public product documentation; see notes.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11</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A possible per-site subscription model</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The example prices below are assumptions to test with buyers, not sales or a forecast.</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Example annual license: $36,000 per site</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Example one-time setup: $25,000 per new customer</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Other options: enterprise plans, integrations, and review services</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96328" y="2487168"/>
            <a:ext cx="2267712" cy="292608"/>
          </a:xfrm>
          <a:prstGeom prst="rect">
            <a:avLst/>
          </a:prstGeom>
          <a:noFill/>
        </p:spPr>
        <p:txBody>
          <a:bodyPr wrap="square" lIns="0" rIns="0" tIns="0" bIns="0">
            <a:spAutoFit/>
          </a:bodyPr>
          <a:lstStyle/>
          <a:p>
            <a:pPr algn="l">
              <a:defRPr sz="1000" b="1">
                <a:solidFill>
                  <a:srgbClr val="FFFFFF"/>
                </a:solidFill>
                <a:latin typeface="Aptos"/>
              </a:defRPr>
            </a:pPr>
            <a:r>
              <a:t>1 customer</a:t>
            </a:r>
          </a:p>
        </p:txBody>
      </p:sp>
      <p:sp>
        <p:nvSpPr>
          <p:cNvPr id="18" name="TextBox 17"/>
          <p:cNvSpPr txBox="1"/>
          <p:nvPr/>
        </p:nvSpPr>
        <p:spPr>
          <a:xfrm>
            <a:off x="9601200" y="2487168"/>
            <a:ext cx="1600200" cy="292608"/>
          </a:xfrm>
          <a:prstGeom prst="rect">
            <a:avLst/>
          </a:prstGeom>
          <a:noFill/>
        </p:spPr>
        <p:txBody>
          <a:bodyPr wrap="square" lIns="0" rIns="0" tIns="0" bIns="0">
            <a:spAutoFit/>
          </a:bodyPr>
          <a:lstStyle/>
          <a:p>
            <a:pPr algn="r">
              <a:defRPr sz="1100" b="1">
                <a:solidFill>
                  <a:srgbClr val="8FE0CE"/>
                </a:solidFill>
                <a:latin typeface="Aptos"/>
              </a:defRPr>
            </a:pPr>
            <a:r>
              <a:t>$108k / year</a:t>
            </a:r>
          </a:p>
        </p:txBody>
      </p:sp>
      <p:sp>
        <p:nvSpPr>
          <p:cNvPr id="19" name="Rectangle 18"/>
          <p:cNvSpPr/>
          <p:nvPr/>
        </p:nvSpPr>
        <p:spPr>
          <a:xfrm>
            <a:off x="7178040" y="2880360"/>
            <a:ext cx="4069080" cy="9144"/>
          </a:xfrm>
          <a:prstGeom prst="rect">
            <a:avLst/>
          </a:prstGeom>
          <a:solidFill>
            <a:srgbClr val="48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6328" y="3200400"/>
            <a:ext cx="2267712" cy="292608"/>
          </a:xfrm>
          <a:prstGeom prst="rect">
            <a:avLst/>
          </a:prstGeom>
          <a:noFill/>
        </p:spPr>
        <p:txBody>
          <a:bodyPr wrap="square" lIns="0" rIns="0" tIns="0" bIns="0">
            <a:spAutoFit/>
          </a:bodyPr>
          <a:lstStyle/>
          <a:p>
            <a:pPr algn="l">
              <a:defRPr sz="1000" b="1">
                <a:solidFill>
                  <a:srgbClr val="FFFFFF"/>
                </a:solidFill>
                <a:latin typeface="Aptos"/>
              </a:defRPr>
            </a:pPr>
            <a:r>
              <a:t>5 customers</a:t>
            </a:r>
          </a:p>
        </p:txBody>
      </p:sp>
      <p:sp>
        <p:nvSpPr>
          <p:cNvPr id="21" name="TextBox 20"/>
          <p:cNvSpPr txBox="1"/>
          <p:nvPr/>
        </p:nvSpPr>
        <p:spPr>
          <a:xfrm>
            <a:off x="9601200" y="3200400"/>
            <a:ext cx="1600200" cy="292608"/>
          </a:xfrm>
          <a:prstGeom prst="rect">
            <a:avLst/>
          </a:prstGeom>
          <a:noFill/>
        </p:spPr>
        <p:txBody>
          <a:bodyPr wrap="square" lIns="0" rIns="0" tIns="0" bIns="0">
            <a:spAutoFit/>
          </a:bodyPr>
          <a:lstStyle/>
          <a:p>
            <a:pPr algn="r">
              <a:defRPr sz="1100" b="1">
                <a:solidFill>
                  <a:srgbClr val="8FE0CE"/>
                </a:solidFill>
                <a:latin typeface="Aptos"/>
              </a:defRPr>
            </a:pPr>
            <a:r>
              <a:t>$540k / year</a:t>
            </a:r>
          </a:p>
        </p:txBody>
      </p:sp>
      <p:sp>
        <p:nvSpPr>
          <p:cNvPr id="22" name="Rectangle 21"/>
          <p:cNvSpPr/>
          <p:nvPr/>
        </p:nvSpPr>
        <p:spPr>
          <a:xfrm>
            <a:off x="7178040" y="3593592"/>
            <a:ext cx="4069080" cy="9144"/>
          </a:xfrm>
          <a:prstGeom prst="rect">
            <a:avLst/>
          </a:prstGeom>
          <a:solidFill>
            <a:srgbClr val="48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96328" y="3913632"/>
            <a:ext cx="2267712" cy="292608"/>
          </a:xfrm>
          <a:prstGeom prst="rect">
            <a:avLst/>
          </a:prstGeom>
          <a:noFill/>
        </p:spPr>
        <p:txBody>
          <a:bodyPr wrap="square" lIns="0" rIns="0" tIns="0" bIns="0">
            <a:spAutoFit/>
          </a:bodyPr>
          <a:lstStyle/>
          <a:p>
            <a:pPr algn="l">
              <a:defRPr sz="1000" b="1">
                <a:solidFill>
                  <a:srgbClr val="FFFFFF"/>
                </a:solidFill>
                <a:latin typeface="Aptos"/>
              </a:defRPr>
            </a:pPr>
            <a:r>
              <a:t>10 customers</a:t>
            </a:r>
          </a:p>
        </p:txBody>
      </p:sp>
      <p:sp>
        <p:nvSpPr>
          <p:cNvPr id="24" name="TextBox 23"/>
          <p:cNvSpPr txBox="1"/>
          <p:nvPr/>
        </p:nvSpPr>
        <p:spPr>
          <a:xfrm>
            <a:off x="9601200" y="3913632"/>
            <a:ext cx="1600200" cy="292608"/>
          </a:xfrm>
          <a:prstGeom prst="rect">
            <a:avLst/>
          </a:prstGeom>
          <a:noFill/>
        </p:spPr>
        <p:txBody>
          <a:bodyPr wrap="square" lIns="0" rIns="0" tIns="0" bIns="0">
            <a:spAutoFit/>
          </a:bodyPr>
          <a:lstStyle/>
          <a:p>
            <a:pPr algn="r">
              <a:defRPr sz="1100" b="1">
                <a:solidFill>
                  <a:srgbClr val="8FE0CE"/>
                </a:solidFill>
                <a:latin typeface="Aptos"/>
              </a:defRPr>
            </a:pPr>
            <a:r>
              <a:t>$1.08m / year</a:t>
            </a:r>
          </a:p>
        </p:txBody>
      </p:sp>
      <p:sp>
        <p:nvSpPr>
          <p:cNvPr id="25" name="Rectangle 24"/>
          <p:cNvSpPr/>
          <p:nvPr/>
        </p:nvSpPr>
        <p:spPr>
          <a:xfrm>
            <a:off x="7178040" y="4306824"/>
            <a:ext cx="4069080" cy="9144"/>
          </a:xfrm>
          <a:prstGeom prst="rect">
            <a:avLst/>
          </a:prstGeom>
          <a:solidFill>
            <a:srgbClr val="48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96328" y="4626864"/>
            <a:ext cx="2267712" cy="292608"/>
          </a:xfrm>
          <a:prstGeom prst="rect">
            <a:avLst/>
          </a:prstGeom>
          <a:noFill/>
        </p:spPr>
        <p:txBody>
          <a:bodyPr wrap="square" lIns="0" rIns="0" tIns="0" bIns="0">
            <a:spAutoFit/>
          </a:bodyPr>
          <a:lstStyle/>
          <a:p>
            <a:pPr algn="l">
              <a:defRPr sz="1000" b="1">
                <a:solidFill>
                  <a:srgbClr val="FFFFFF"/>
                </a:solidFill>
                <a:latin typeface="Aptos"/>
              </a:defRPr>
            </a:pPr>
            <a:r>
              <a:t>25 customers</a:t>
            </a:r>
          </a:p>
        </p:txBody>
      </p:sp>
      <p:sp>
        <p:nvSpPr>
          <p:cNvPr id="27" name="TextBox 26"/>
          <p:cNvSpPr txBox="1"/>
          <p:nvPr/>
        </p:nvSpPr>
        <p:spPr>
          <a:xfrm>
            <a:off x="9601200" y="4626864"/>
            <a:ext cx="1600200" cy="292608"/>
          </a:xfrm>
          <a:prstGeom prst="rect">
            <a:avLst/>
          </a:prstGeom>
          <a:noFill/>
        </p:spPr>
        <p:txBody>
          <a:bodyPr wrap="square" lIns="0" rIns="0" tIns="0" bIns="0">
            <a:spAutoFit/>
          </a:bodyPr>
          <a:lstStyle/>
          <a:p>
            <a:pPr algn="r">
              <a:defRPr sz="1100" b="1">
                <a:solidFill>
                  <a:srgbClr val="8FE0CE"/>
                </a:solidFill>
                <a:latin typeface="Aptos"/>
              </a:defRPr>
            </a:pPr>
            <a:r>
              <a:t>$2.70m / year</a:t>
            </a:r>
          </a:p>
        </p:txBody>
      </p:sp>
      <p:sp>
        <p:nvSpPr>
          <p:cNvPr id="28" name="TextBox 27"/>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Illustrative arithmetic only; assumptions in OTProof_Business_Case.pdf.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12</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What the test shows—and what it does not</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The software matched this small set of prepared examples; the result does not predict field accuracy.</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All 14 labeled test cases matched their expected outcome</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All 4 affected examples were found; none were missed in this set</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All 6 uncertain examples went to human review; all results link to sources</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Rounded Rectangle 16"/>
          <p:cNvSpPr/>
          <p:nvPr/>
        </p:nvSpPr>
        <p:spPr>
          <a:xfrm>
            <a:off x="7178040" y="2532888"/>
            <a:ext cx="1810512" cy="877824"/>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2651760"/>
            <a:ext cx="1627632" cy="310896"/>
          </a:xfrm>
          <a:prstGeom prst="rect">
            <a:avLst/>
          </a:prstGeom>
          <a:noFill/>
        </p:spPr>
        <p:txBody>
          <a:bodyPr wrap="square" lIns="0" rIns="0" tIns="0" bIns="0">
            <a:spAutoFit/>
          </a:bodyPr>
          <a:lstStyle/>
          <a:p>
            <a:pPr algn="ctr">
              <a:defRPr sz="2000" b="1">
                <a:solidFill>
                  <a:srgbClr val="8FE0CE"/>
                </a:solidFill>
                <a:latin typeface="Aptos"/>
              </a:defRPr>
            </a:pPr>
            <a:r>
              <a:t>14/14</a:t>
            </a:r>
          </a:p>
        </p:txBody>
      </p:sp>
      <p:sp>
        <p:nvSpPr>
          <p:cNvPr id="19" name="TextBox 18"/>
          <p:cNvSpPr txBox="1"/>
          <p:nvPr/>
        </p:nvSpPr>
        <p:spPr>
          <a:xfrm>
            <a:off x="7269480" y="3044952"/>
            <a:ext cx="1627632" cy="201168"/>
          </a:xfrm>
          <a:prstGeom prst="rect">
            <a:avLst/>
          </a:prstGeom>
          <a:noFill/>
        </p:spPr>
        <p:txBody>
          <a:bodyPr wrap="square" lIns="0" rIns="0" tIns="0" bIns="0">
            <a:spAutoFit/>
          </a:bodyPr>
          <a:lstStyle/>
          <a:p>
            <a:pPr algn="ctr">
              <a:defRPr sz="800" b="0">
                <a:solidFill>
                  <a:srgbClr val="D0E0DF"/>
                </a:solidFill>
                <a:latin typeface="Aptos"/>
              </a:defRPr>
            </a:pPr>
            <a:r>
              <a:t>tests passed</a:t>
            </a:r>
          </a:p>
        </p:txBody>
      </p:sp>
      <p:sp>
        <p:nvSpPr>
          <p:cNvPr id="20" name="Rounded Rectangle 19"/>
          <p:cNvSpPr/>
          <p:nvPr/>
        </p:nvSpPr>
        <p:spPr>
          <a:xfrm>
            <a:off x="9281160" y="2532888"/>
            <a:ext cx="1810512" cy="877824"/>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72600" y="2651760"/>
            <a:ext cx="1627632" cy="310896"/>
          </a:xfrm>
          <a:prstGeom prst="rect">
            <a:avLst/>
          </a:prstGeom>
          <a:noFill/>
        </p:spPr>
        <p:txBody>
          <a:bodyPr wrap="square" lIns="0" rIns="0" tIns="0" bIns="0">
            <a:spAutoFit/>
          </a:bodyPr>
          <a:lstStyle/>
          <a:p>
            <a:pPr algn="ctr">
              <a:defRPr sz="2000" b="1">
                <a:solidFill>
                  <a:srgbClr val="8FE0CE"/>
                </a:solidFill>
                <a:latin typeface="Aptos"/>
              </a:defRPr>
            </a:pPr>
            <a:r>
              <a:t>4/4</a:t>
            </a:r>
          </a:p>
        </p:txBody>
      </p:sp>
      <p:sp>
        <p:nvSpPr>
          <p:cNvPr id="22" name="TextBox 21"/>
          <p:cNvSpPr txBox="1"/>
          <p:nvPr/>
        </p:nvSpPr>
        <p:spPr>
          <a:xfrm>
            <a:off x="9372600" y="3044952"/>
            <a:ext cx="1627632" cy="201168"/>
          </a:xfrm>
          <a:prstGeom prst="rect">
            <a:avLst/>
          </a:prstGeom>
          <a:noFill/>
        </p:spPr>
        <p:txBody>
          <a:bodyPr wrap="square" lIns="0" rIns="0" tIns="0" bIns="0">
            <a:spAutoFit/>
          </a:bodyPr>
          <a:lstStyle/>
          <a:p>
            <a:pPr algn="ctr">
              <a:defRPr sz="800" b="0">
                <a:solidFill>
                  <a:srgbClr val="D0E0DF"/>
                </a:solidFill>
                <a:latin typeface="Aptos"/>
              </a:defRPr>
            </a:pPr>
            <a:r>
              <a:t>affected cases found</a:t>
            </a:r>
          </a:p>
        </p:txBody>
      </p:sp>
      <p:sp>
        <p:nvSpPr>
          <p:cNvPr id="23" name="Rounded Rectangle 22"/>
          <p:cNvSpPr/>
          <p:nvPr/>
        </p:nvSpPr>
        <p:spPr>
          <a:xfrm>
            <a:off x="7178040" y="3666744"/>
            <a:ext cx="1810512" cy="877824"/>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3785615"/>
            <a:ext cx="1627632" cy="310896"/>
          </a:xfrm>
          <a:prstGeom prst="rect">
            <a:avLst/>
          </a:prstGeom>
          <a:noFill/>
        </p:spPr>
        <p:txBody>
          <a:bodyPr wrap="square" lIns="0" rIns="0" tIns="0" bIns="0">
            <a:spAutoFit/>
          </a:bodyPr>
          <a:lstStyle/>
          <a:p>
            <a:pPr algn="ctr">
              <a:defRPr sz="2000" b="1">
                <a:solidFill>
                  <a:srgbClr val="8FE0CE"/>
                </a:solidFill>
                <a:latin typeface="Aptos"/>
              </a:defRPr>
            </a:pPr>
            <a:r>
              <a:t>6/6</a:t>
            </a:r>
          </a:p>
        </p:txBody>
      </p:sp>
      <p:sp>
        <p:nvSpPr>
          <p:cNvPr id="25" name="TextBox 24"/>
          <p:cNvSpPr txBox="1"/>
          <p:nvPr/>
        </p:nvSpPr>
        <p:spPr>
          <a:xfrm>
            <a:off x="7269480" y="4178808"/>
            <a:ext cx="1627632" cy="201168"/>
          </a:xfrm>
          <a:prstGeom prst="rect">
            <a:avLst/>
          </a:prstGeom>
          <a:noFill/>
        </p:spPr>
        <p:txBody>
          <a:bodyPr wrap="square" lIns="0" rIns="0" tIns="0" bIns="0">
            <a:spAutoFit/>
          </a:bodyPr>
          <a:lstStyle/>
          <a:p>
            <a:pPr algn="ctr">
              <a:defRPr sz="800" b="0">
                <a:solidFill>
                  <a:srgbClr val="D0E0DF"/>
                </a:solidFill>
                <a:latin typeface="Aptos"/>
              </a:defRPr>
            </a:pPr>
            <a:r>
              <a:t>sent to review</a:t>
            </a:r>
          </a:p>
        </p:txBody>
      </p:sp>
      <p:sp>
        <p:nvSpPr>
          <p:cNvPr id="26" name="Rounded Rectangle 25"/>
          <p:cNvSpPr/>
          <p:nvPr/>
        </p:nvSpPr>
        <p:spPr>
          <a:xfrm>
            <a:off x="9281160" y="3666744"/>
            <a:ext cx="1810512" cy="877824"/>
          </a:xfrm>
          <a:prstGeom prst="roundRect">
            <a:avLst/>
          </a:prstGeom>
          <a:solidFill>
            <a:srgbClr val="2C49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600" y="3785615"/>
            <a:ext cx="1627632" cy="310896"/>
          </a:xfrm>
          <a:prstGeom prst="rect">
            <a:avLst/>
          </a:prstGeom>
          <a:noFill/>
        </p:spPr>
        <p:txBody>
          <a:bodyPr wrap="square" lIns="0" rIns="0" tIns="0" bIns="0">
            <a:spAutoFit/>
          </a:bodyPr>
          <a:lstStyle/>
          <a:p>
            <a:pPr algn="ctr">
              <a:defRPr sz="2000" b="1">
                <a:solidFill>
                  <a:srgbClr val="8FE0CE"/>
                </a:solidFill>
                <a:latin typeface="Aptos"/>
              </a:defRPr>
            </a:pPr>
            <a:r>
              <a:t>14/14</a:t>
            </a:r>
          </a:p>
        </p:txBody>
      </p:sp>
      <p:sp>
        <p:nvSpPr>
          <p:cNvPr id="28" name="TextBox 27"/>
          <p:cNvSpPr txBox="1"/>
          <p:nvPr/>
        </p:nvSpPr>
        <p:spPr>
          <a:xfrm>
            <a:off x="9372600" y="4178808"/>
            <a:ext cx="1627632" cy="201168"/>
          </a:xfrm>
          <a:prstGeom prst="rect">
            <a:avLst/>
          </a:prstGeom>
          <a:noFill/>
        </p:spPr>
        <p:txBody>
          <a:bodyPr wrap="square" lIns="0" rIns="0" tIns="0" bIns="0">
            <a:spAutoFit/>
          </a:bodyPr>
          <a:lstStyle/>
          <a:p>
            <a:pPr algn="ctr">
              <a:defRPr sz="800" b="0">
                <a:solidFill>
                  <a:srgbClr val="D0E0DF"/>
                </a:solidFill>
                <a:latin typeface="Aptos"/>
              </a:defRPr>
            </a:pPr>
            <a:r>
              <a:t>sources linked</a:t>
            </a:r>
          </a:p>
        </p:txBody>
      </p:sp>
      <p:sp>
        <p:nvSpPr>
          <p:cNvPr id="29" name="TextBox 28"/>
          <p:cNvSpPr txBox="1"/>
          <p:nvPr/>
        </p:nvSpPr>
        <p:spPr>
          <a:xfrm>
            <a:off x="7223760" y="5138928"/>
            <a:ext cx="3977639" cy="365760"/>
          </a:xfrm>
          <a:prstGeom prst="rect">
            <a:avLst/>
          </a:prstGeom>
          <a:noFill/>
        </p:spPr>
        <p:txBody>
          <a:bodyPr wrap="square" lIns="0" rIns="0" tIns="0" bIns="0">
            <a:spAutoFit/>
          </a:bodyPr>
          <a:lstStyle/>
          <a:p>
            <a:pPr algn="ctr">
              <a:defRPr sz="900" b="0">
                <a:solidFill>
                  <a:srgbClr val="F4C273"/>
                </a:solidFill>
                <a:latin typeface="Aptos"/>
              </a:defRPr>
            </a:pPr>
            <a:r>
              <a:t>Small synthetic test set · not field accuracy</a:t>
            </a:r>
          </a:p>
        </p:txBody>
      </p:sp>
      <p:sp>
        <p:nvSpPr>
          <p:cNvPr id="30" name="TextBox 29"/>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reports/evaluation_metrics.json · run dated 26 Oct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13</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Safety and trust boundaries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The app reads files and public notices. It never contacts or changes industrial equipment.</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No device scan, remote query, exploit, or configuration change</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Uploaded files and notice text are treated as untrusted input</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People approve work and check evidence before closing a finding</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HUMAN</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Owns applicability and remediation decisions</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Public sources only</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Evidence and action history</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Company login needed for real use</a:t>
            </a:r>
          </a:p>
        </p:txBody>
      </p:sp>
      <p:sp>
        <p:nvSpPr>
          <p:cNvPr id="25" name="TextBox 2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Security review, company login, and protected action records remain future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14</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Next: test with operators and engineers</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The next step is to learn whether this helps real teams and fits their existing process.</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Invite 3–5 operators or service providers to try a controlled pilot</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Ask engineers to label cases before seeing the software’s result</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Measure missed cases, human-review rate, time, and setup effort</a:t>
            </a:r>
          </a:p>
        </p:txBody>
      </p:sp>
      <p:sp>
        <p:nvSpPr>
          <p:cNvPr id="15" name="Rounded Rectangle 14"/>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17" name="TextBox 16"/>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PILOT ASK</a:t>
            </a:r>
          </a:p>
        </p:txBody>
      </p:sp>
      <p:sp>
        <p:nvSpPr>
          <p:cNvPr id="18" name="TextBox 17"/>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Water / energy operator + OT engineering reviewers</a:t>
            </a:r>
          </a:p>
        </p:txBody>
      </p:sp>
      <p:sp>
        <p:nvSpPr>
          <p:cNvPr id="19" name="Rectangle 18"/>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Add more vendors and sources</a:t>
            </a:r>
          </a:p>
        </p:txBody>
      </p:sp>
      <p:sp>
        <p:nvSpPr>
          <p:cNvPr id="21" name="Rectangle 20"/>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Add company sign-in and protected audit records</a:t>
            </a:r>
          </a:p>
        </p:txBody>
      </p:sp>
      <p:sp>
        <p:nvSpPr>
          <p:cNvPr id="23" name="Rectangle 22"/>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Connect to maintenance and risk systems if users need it</a:t>
            </a:r>
          </a:p>
        </p:txBody>
      </p:sp>
      <p:sp>
        <p:nvSpPr>
          <p:cNvPr id="25" name="TextBox 24"/>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No customer interviews, paid pilots, or measured savings are claimed yet.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7F6"/>
        </a:solidFill>
        <a:effectLst/>
      </p:bgPr>
    </p:bg>
    <p:spTree>
      <p:nvGrpSpPr>
        <p:cNvPr id="1" name=""/>
        <p:cNvGrpSpPr/>
        <p:nvPr/>
      </p:nvGrpSpPr>
      <p:grpSpPr/>
      <p:sp>
        <p:nvSpPr>
          <p:cNvPr id="2" name="TextBox 1"/>
          <p:cNvSpPr txBox="1"/>
          <p:nvPr/>
        </p:nvSpPr>
        <p:spPr>
          <a:xfrm>
            <a:off x="658368" y="310896"/>
            <a:ext cx="4572000" cy="201168"/>
          </a:xfrm>
          <a:prstGeom prst="rect">
            <a:avLst/>
          </a:prstGeom>
          <a:noFill/>
        </p:spPr>
        <p:txBody>
          <a:bodyPr wrap="square" lIns="0" rIns="0" tIns="0" bIns="0">
            <a:spAutoFit/>
          </a:bodyPr>
          <a:lstStyle/>
          <a:p>
            <a:pPr algn="l">
              <a:defRPr sz="800" b="1">
                <a:solidFill>
                  <a:srgbClr val="25A99A"/>
                </a:solidFill>
                <a:latin typeface="Aptos"/>
              </a:defRPr>
            </a:pPr>
            <a:r>
              <a:t>OTPROOF  /  EUREKA HACKATHON</a:t>
            </a:r>
          </a:p>
        </p:txBody>
      </p:sp>
      <p:sp>
        <p:nvSpPr>
          <p:cNvPr id="3" name="TextBox 2"/>
          <p:cNvSpPr txBox="1"/>
          <p:nvPr/>
        </p:nvSpPr>
        <p:spPr>
          <a:xfrm>
            <a:off x="11082528" y="310896"/>
            <a:ext cx="411480" cy="201168"/>
          </a:xfrm>
          <a:prstGeom prst="rect">
            <a:avLst/>
          </a:prstGeom>
          <a:noFill/>
        </p:spPr>
        <p:txBody>
          <a:bodyPr wrap="square" lIns="0" rIns="0" tIns="0" bIns="0">
            <a:spAutoFit/>
          </a:bodyPr>
          <a:lstStyle/>
          <a:p>
            <a:pPr algn="r">
              <a:defRPr sz="800" b="1">
                <a:solidFill>
                  <a:srgbClr val="63777C"/>
                </a:solidFill>
                <a:latin typeface="Aptos"/>
              </a:defRPr>
            </a:pPr>
            <a:r>
              <a:t>15</a:t>
            </a:r>
          </a:p>
        </p:txBody>
      </p:sp>
      <p:sp>
        <p:nvSpPr>
          <p:cNvPr id="4" name="TextBox 3"/>
          <p:cNvSpPr txBox="1"/>
          <p:nvPr/>
        </p:nvSpPr>
        <p:spPr>
          <a:xfrm>
            <a:off x="658368" y="704088"/>
            <a:ext cx="10881360" cy="502920"/>
          </a:xfrm>
          <a:prstGeom prst="rect">
            <a:avLst/>
          </a:prstGeom>
          <a:noFill/>
        </p:spPr>
        <p:txBody>
          <a:bodyPr wrap="square" lIns="0" rIns="0" tIns="0" bIns="0">
            <a:spAutoFit/>
          </a:bodyPr>
          <a:lstStyle/>
          <a:p>
            <a:pPr algn="l">
              <a:defRPr sz="2500" b="1">
                <a:solidFill>
                  <a:srgbClr val="122430"/>
                </a:solidFill>
                <a:latin typeface="Aptos Display"/>
              </a:defRPr>
            </a:pPr>
            <a:r>
              <a:t>Plain-language glossary</a:t>
            </a:r>
          </a:p>
        </p:txBody>
      </p:sp>
      <p:sp>
        <p:nvSpPr>
          <p:cNvPr id="5" name="TextBox 4"/>
          <p:cNvSpPr txBox="1"/>
          <p:nvPr/>
        </p:nvSpPr>
        <p:spPr>
          <a:xfrm>
            <a:off x="676656" y="1261872"/>
            <a:ext cx="10835640" cy="329184"/>
          </a:xfrm>
          <a:prstGeom prst="rect">
            <a:avLst/>
          </a:prstGeom>
          <a:noFill/>
        </p:spPr>
        <p:txBody>
          <a:bodyPr wrap="square" lIns="0" rIns="0" tIns="0" bIns="0">
            <a:spAutoFit/>
          </a:bodyPr>
          <a:lstStyle/>
          <a:p>
            <a:pPr algn="l">
              <a:defRPr sz="1100" b="0">
                <a:solidFill>
                  <a:srgbClr val="63777C"/>
                </a:solidFill>
                <a:latin typeface="Aptos"/>
              </a:defRPr>
            </a:pPr>
            <a:r>
              <a:t>A quick translation of the terms used in this presentation.</a:t>
            </a:r>
          </a:p>
        </p:txBody>
      </p:sp>
      <p:sp>
        <p:nvSpPr>
          <p:cNvPr id="6" name="Rounded Rectangle 5"/>
          <p:cNvSpPr/>
          <p:nvPr/>
        </p:nvSpPr>
        <p:spPr>
          <a:xfrm>
            <a:off x="704088" y="1965960"/>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20824"/>
            <a:ext cx="338328" cy="182880"/>
          </a:xfrm>
          <a:prstGeom prst="rect">
            <a:avLst/>
          </a:prstGeom>
          <a:noFill/>
        </p:spPr>
        <p:txBody>
          <a:bodyPr wrap="square" lIns="0" rIns="0" tIns="0" bIns="0">
            <a:spAutoFit/>
          </a:bodyPr>
          <a:lstStyle/>
          <a:p>
            <a:pPr algn="ctr">
              <a:defRPr sz="800" b="1">
                <a:solidFill>
                  <a:srgbClr val="FFFFFF"/>
                </a:solidFill>
                <a:latin typeface="Aptos"/>
              </a:defRPr>
            </a:pPr>
            <a:r>
              <a:t>01</a:t>
            </a:r>
          </a:p>
        </p:txBody>
      </p:sp>
      <p:sp>
        <p:nvSpPr>
          <p:cNvPr id="8" name="TextBox 7"/>
          <p:cNvSpPr txBox="1"/>
          <p:nvPr/>
        </p:nvSpPr>
        <p:spPr>
          <a:xfrm>
            <a:off x="1243584" y="1929384"/>
            <a:ext cx="5074920" cy="777240"/>
          </a:xfrm>
          <a:prstGeom prst="rect">
            <a:avLst/>
          </a:prstGeom>
          <a:noFill/>
        </p:spPr>
        <p:txBody>
          <a:bodyPr wrap="square" lIns="0" rIns="0" tIns="0" bIns="0">
            <a:spAutoFit/>
          </a:bodyPr>
          <a:lstStyle/>
          <a:p>
            <a:pPr algn="l">
              <a:defRPr sz="1500" b="1">
                <a:solidFill>
                  <a:srgbClr val="18313A"/>
                </a:solidFill>
                <a:latin typeface="Aptos"/>
              </a:defRPr>
            </a:pPr>
            <a:r>
              <a:t>Asset: a device or software record in the operator’s equipment list</a:t>
            </a:r>
          </a:p>
        </p:txBody>
      </p:sp>
      <p:sp>
        <p:nvSpPr>
          <p:cNvPr id="9" name="Rounded Rectangle 8"/>
          <p:cNvSpPr/>
          <p:nvPr/>
        </p:nvSpPr>
        <p:spPr>
          <a:xfrm>
            <a:off x="704088" y="2990088"/>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044952"/>
            <a:ext cx="338328" cy="182880"/>
          </a:xfrm>
          <a:prstGeom prst="rect">
            <a:avLst/>
          </a:prstGeom>
          <a:noFill/>
        </p:spPr>
        <p:txBody>
          <a:bodyPr wrap="square" lIns="0" rIns="0" tIns="0" bIns="0">
            <a:spAutoFit/>
          </a:bodyPr>
          <a:lstStyle/>
          <a:p>
            <a:pPr algn="ctr">
              <a:defRPr sz="800" b="1">
                <a:solidFill>
                  <a:srgbClr val="FFFFFF"/>
                </a:solidFill>
                <a:latin typeface="Aptos"/>
              </a:defRPr>
            </a:pPr>
            <a:r>
              <a:t>02</a:t>
            </a:r>
          </a:p>
        </p:txBody>
      </p:sp>
      <p:sp>
        <p:nvSpPr>
          <p:cNvPr id="11" name="TextBox 10"/>
          <p:cNvSpPr txBox="1"/>
          <p:nvPr/>
        </p:nvSpPr>
        <p:spPr>
          <a:xfrm>
            <a:off x="1243584" y="2953512"/>
            <a:ext cx="5074920" cy="777240"/>
          </a:xfrm>
          <a:prstGeom prst="rect">
            <a:avLst/>
          </a:prstGeom>
          <a:noFill/>
        </p:spPr>
        <p:txBody>
          <a:bodyPr wrap="square" lIns="0" rIns="0" tIns="0" bIns="0">
            <a:spAutoFit/>
          </a:bodyPr>
          <a:lstStyle/>
          <a:p>
            <a:pPr algn="l">
              <a:defRPr sz="1500" b="0">
                <a:solidFill>
                  <a:srgbClr val="18313A"/>
                </a:solidFill>
                <a:latin typeface="Aptos"/>
              </a:defRPr>
            </a:pPr>
            <a:r>
              <a:t>Advisory: a public security notice about a product weakness</a:t>
            </a:r>
          </a:p>
        </p:txBody>
      </p:sp>
      <p:sp>
        <p:nvSpPr>
          <p:cNvPr id="12" name="Rounded Rectangle 11"/>
          <p:cNvSpPr/>
          <p:nvPr/>
        </p:nvSpPr>
        <p:spPr>
          <a:xfrm>
            <a:off x="704088" y="4014215"/>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069079"/>
            <a:ext cx="338328" cy="182880"/>
          </a:xfrm>
          <a:prstGeom prst="rect">
            <a:avLst/>
          </a:prstGeom>
          <a:noFill/>
        </p:spPr>
        <p:txBody>
          <a:bodyPr wrap="square" lIns="0" rIns="0" tIns="0" bIns="0">
            <a:spAutoFit/>
          </a:bodyPr>
          <a:lstStyle/>
          <a:p>
            <a:pPr algn="ctr">
              <a:defRPr sz="800" b="1">
                <a:solidFill>
                  <a:srgbClr val="FFFFFF"/>
                </a:solidFill>
                <a:latin typeface="Aptos"/>
              </a:defRPr>
            </a:pPr>
            <a:r>
              <a:t>03</a:t>
            </a:r>
          </a:p>
        </p:txBody>
      </p:sp>
      <p:sp>
        <p:nvSpPr>
          <p:cNvPr id="14" name="TextBox 13"/>
          <p:cNvSpPr txBox="1"/>
          <p:nvPr/>
        </p:nvSpPr>
        <p:spPr>
          <a:xfrm>
            <a:off x="1243584" y="3977639"/>
            <a:ext cx="5074920" cy="777240"/>
          </a:xfrm>
          <a:prstGeom prst="rect">
            <a:avLst/>
          </a:prstGeom>
          <a:noFill/>
        </p:spPr>
        <p:txBody>
          <a:bodyPr wrap="square" lIns="0" rIns="0" tIns="0" bIns="0">
            <a:spAutoFit/>
          </a:bodyPr>
          <a:lstStyle/>
          <a:p>
            <a:pPr algn="l">
              <a:defRPr sz="1500" b="0">
                <a:solidFill>
                  <a:srgbClr val="18313A"/>
                </a:solidFill>
                <a:latin typeface="Aptos"/>
              </a:defRPr>
            </a:pPr>
            <a:r>
              <a:t>Candidate match: a possible link that still needs an engineer’s review</a:t>
            </a:r>
          </a:p>
        </p:txBody>
      </p:sp>
      <p:sp>
        <p:nvSpPr>
          <p:cNvPr id="15" name="Rounded Rectangle 14"/>
          <p:cNvSpPr/>
          <p:nvPr/>
        </p:nvSpPr>
        <p:spPr>
          <a:xfrm>
            <a:off x="704088" y="5038344"/>
            <a:ext cx="338328" cy="338328"/>
          </a:xfrm>
          <a:prstGeom prst="round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5093208"/>
            <a:ext cx="338328" cy="182880"/>
          </a:xfrm>
          <a:prstGeom prst="rect">
            <a:avLst/>
          </a:prstGeom>
          <a:noFill/>
        </p:spPr>
        <p:txBody>
          <a:bodyPr wrap="square" lIns="0" rIns="0" tIns="0" bIns="0">
            <a:spAutoFit/>
          </a:bodyPr>
          <a:lstStyle/>
          <a:p>
            <a:pPr algn="ctr">
              <a:defRPr sz="800" b="1">
                <a:solidFill>
                  <a:srgbClr val="FFFFFF"/>
                </a:solidFill>
                <a:latin typeface="Aptos"/>
              </a:defRPr>
            </a:pPr>
            <a:r>
              <a:t>04</a:t>
            </a:r>
          </a:p>
        </p:txBody>
      </p:sp>
      <p:sp>
        <p:nvSpPr>
          <p:cNvPr id="17" name="TextBox 16"/>
          <p:cNvSpPr txBox="1"/>
          <p:nvPr/>
        </p:nvSpPr>
        <p:spPr>
          <a:xfrm>
            <a:off x="1243584" y="5001768"/>
            <a:ext cx="5074920" cy="777240"/>
          </a:xfrm>
          <a:prstGeom prst="rect">
            <a:avLst/>
          </a:prstGeom>
          <a:noFill/>
        </p:spPr>
        <p:txBody>
          <a:bodyPr wrap="square" lIns="0" rIns="0" tIns="0" bIns="0">
            <a:spAutoFit/>
          </a:bodyPr>
          <a:lstStyle/>
          <a:p>
            <a:pPr algn="l">
              <a:defRPr sz="1500" b="0">
                <a:solidFill>
                  <a:srgbClr val="18313A"/>
                </a:solidFill>
                <a:latin typeface="Aptos"/>
              </a:defRPr>
            </a:pPr>
            <a:r>
              <a:t>Evidence: a record that supports a human decision</a:t>
            </a:r>
          </a:p>
        </p:txBody>
      </p:sp>
      <p:sp>
        <p:nvSpPr>
          <p:cNvPr id="18" name="Rounded Rectangle 17"/>
          <p:cNvSpPr/>
          <p:nvPr/>
        </p:nvSpPr>
        <p:spPr>
          <a:xfrm>
            <a:off x="6812280" y="1664208"/>
            <a:ext cx="4800600" cy="4279392"/>
          </a:xfrm>
          <a:prstGeom prst="roundRect">
            <a:avLst/>
          </a:prstGeom>
          <a:solidFill>
            <a:srgbClr val="1C3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1920240"/>
            <a:ext cx="4251960" cy="274320"/>
          </a:xfrm>
          <a:prstGeom prst="rect">
            <a:avLst/>
          </a:prstGeom>
          <a:noFill/>
        </p:spPr>
        <p:txBody>
          <a:bodyPr wrap="square" lIns="0" rIns="0" tIns="0" bIns="0">
            <a:spAutoFit/>
          </a:bodyPr>
          <a:lstStyle/>
          <a:p>
            <a:pPr algn="l">
              <a:defRPr sz="800" b="1">
                <a:solidFill>
                  <a:srgbClr val="8FC7BE"/>
                </a:solidFill>
                <a:latin typeface="Aptos"/>
              </a:defRPr>
            </a:pPr>
            <a:r>
              <a:t>OTPROOF / FIELD VIEW</a:t>
            </a:r>
          </a:p>
        </p:txBody>
      </p:sp>
      <p:sp>
        <p:nvSpPr>
          <p:cNvPr id="20" name="TextBox 19"/>
          <p:cNvSpPr txBox="1"/>
          <p:nvPr/>
        </p:nvSpPr>
        <p:spPr>
          <a:xfrm>
            <a:off x="7150608" y="2414016"/>
            <a:ext cx="4123944" cy="713232"/>
          </a:xfrm>
          <a:prstGeom prst="rect">
            <a:avLst/>
          </a:prstGeom>
          <a:noFill/>
        </p:spPr>
        <p:txBody>
          <a:bodyPr wrap="square" lIns="0" rIns="0" tIns="0" bIns="0">
            <a:spAutoFit/>
          </a:bodyPr>
          <a:lstStyle/>
          <a:p>
            <a:pPr algn="l">
              <a:defRPr sz="2900" b="1">
                <a:solidFill>
                  <a:srgbClr val="8FE0CE"/>
                </a:solidFill>
                <a:latin typeface="Aptos"/>
              </a:defRPr>
            </a:pPr>
            <a:r>
              <a:t>KEY TERMS</a:t>
            </a:r>
          </a:p>
        </p:txBody>
      </p:sp>
      <p:sp>
        <p:nvSpPr>
          <p:cNvPr id="21" name="TextBox 20"/>
          <p:cNvSpPr txBox="1"/>
          <p:nvPr/>
        </p:nvSpPr>
        <p:spPr>
          <a:xfrm>
            <a:off x="7150608" y="3136392"/>
            <a:ext cx="4123944" cy="548640"/>
          </a:xfrm>
          <a:prstGeom prst="rect">
            <a:avLst/>
          </a:prstGeom>
          <a:noFill/>
        </p:spPr>
        <p:txBody>
          <a:bodyPr wrap="square" lIns="0" rIns="0" tIns="0" bIns="0">
            <a:spAutoFit/>
          </a:bodyPr>
          <a:lstStyle/>
          <a:p>
            <a:pPr algn="l">
              <a:defRPr sz="1200" b="0">
                <a:solidFill>
                  <a:srgbClr val="D0E0DF"/>
                </a:solidFill>
                <a:latin typeface="Aptos"/>
              </a:defRPr>
            </a:pPr>
            <a:r>
              <a:t>Read the source and inventory record together</a:t>
            </a:r>
          </a:p>
        </p:txBody>
      </p:sp>
      <p:sp>
        <p:nvSpPr>
          <p:cNvPr id="22" name="Rectangle 21"/>
          <p:cNvSpPr/>
          <p:nvPr/>
        </p:nvSpPr>
        <p:spPr>
          <a:xfrm>
            <a:off x="7178040" y="4014215"/>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15783" y="3968496"/>
            <a:ext cx="3904487" cy="329184"/>
          </a:xfrm>
          <a:prstGeom prst="rect">
            <a:avLst/>
          </a:prstGeom>
          <a:noFill/>
        </p:spPr>
        <p:txBody>
          <a:bodyPr wrap="square" lIns="0" rIns="0" tIns="0" bIns="0">
            <a:spAutoFit/>
          </a:bodyPr>
          <a:lstStyle/>
          <a:p>
            <a:pPr algn="l">
              <a:defRPr sz="1000" b="0">
                <a:solidFill>
                  <a:srgbClr val="FFFFFF"/>
                </a:solidFill>
                <a:latin typeface="Aptos"/>
              </a:defRPr>
            </a:pPr>
            <a:r>
              <a:t>OT · computers and controllers for physical processes</a:t>
            </a:r>
          </a:p>
        </p:txBody>
      </p:sp>
      <p:sp>
        <p:nvSpPr>
          <p:cNvPr id="24" name="Rectangle 23"/>
          <p:cNvSpPr/>
          <p:nvPr/>
        </p:nvSpPr>
        <p:spPr>
          <a:xfrm>
            <a:off x="7178040" y="4507992"/>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15783" y="4462272"/>
            <a:ext cx="3904487" cy="329184"/>
          </a:xfrm>
          <a:prstGeom prst="rect">
            <a:avLst/>
          </a:prstGeom>
          <a:noFill/>
        </p:spPr>
        <p:txBody>
          <a:bodyPr wrap="square" lIns="0" rIns="0" tIns="0" bIns="0">
            <a:spAutoFit/>
          </a:bodyPr>
          <a:lstStyle/>
          <a:p>
            <a:pPr algn="l">
              <a:defRPr sz="1000" b="0">
                <a:solidFill>
                  <a:srgbClr val="FFFFFF"/>
                </a:solidFill>
                <a:latin typeface="Aptos"/>
              </a:defRPr>
            </a:pPr>
            <a:r>
              <a:t>CISA · U.S. Cybersecurity and Infrastructure Security Agency</a:t>
            </a:r>
          </a:p>
        </p:txBody>
      </p:sp>
      <p:sp>
        <p:nvSpPr>
          <p:cNvPr id="26" name="Rectangle 25"/>
          <p:cNvSpPr/>
          <p:nvPr/>
        </p:nvSpPr>
        <p:spPr>
          <a:xfrm>
            <a:off x="7178040" y="5001768"/>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15783" y="4956048"/>
            <a:ext cx="3904487" cy="329184"/>
          </a:xfrm>
          <a:prstGeom prst="rect">
            <a:avLst/>
          </a:prstGeom>
          <a:noFill/>
        </p:spPr>
        <p:txBody>
          <a:bodyPr wrap="square" lIns="0" rIns="0" tIns="0" bIns="0">
            <a:spAutoFit/>
          </a:bodyPr>
          <a:lstStyle/>
          <a:p>
            <a:pPr algn="l">
              <a:defRPr sz="1000" b="0">
                <a:solidFill>
                  <a:srgbClr val="FFFFFF"/>
                </a:solidFill>
                <a:latin typeface="Aptos"/>
              </a:defRPr>
            </a:pPr>
            <a:r>
              <a:t>CVE · public ID assigned to a specific vulnerability</a:t>
            </a:r>
          </a:p>
        </p:txBody>
      </p:sp>
      <p:sp>
        <p:nvSpPr>
          <p:cNvPr id="28" name="Rectangle 27"/>
          <p:cNvSpPr/>
          <p:nvPr/>
        </p:nvSpPr>
        <p:spPr>
          <a:xfrm>
            <a:off x="7178040" y="5495544"/>
            <a:ext cx="109728" cy="109728"/>
          </a:xfrm>
          <a:prstGeom prst="rect">
            <a:avLst/>
          </a:prstGeom>
          <a:solidFill>
            <a:srgbClr val="25A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15783" y="5449824"/>
            <a:ext cx="3904487" cy="329184"/>
          </a:xfrm>
          <a:prstGeom prst="rect">
            <a:avLst/>
          </a:prstGeom>
          <a:noFill/>
        </p:spPr>
        <p:txBody>
          <a:bodyPr wrap="square" lIns="0" rIns="0" tIns="0" bIns="0">
            <a:spAutoFit/>
          </a:bodyPr>
          <a:lstStyle/>
          <a:p>
            <a:pPr algn="l">
              <a:defRPr sz="1000" b="0">
                <a:solidFill>
                  <a:srgbClr val="FFFFFF"/>
                </a:solidFill>
                <a:latin typeface="Aptos"/>
              </a:defRPr>
            </a:pPr>
            <a:r>
              <a:t>KEV · CISA list of vulnerabilities known to be exploited</a:t>
            </a:r>
          </a:p>
        </p:txBody>
      </p:sp>
      <p:sp>
        <p:nvSpPr>
          <p:cNvPr id="30" name="TextBox 29"/>
          <p:cNvSpPr txBox="1"/>
          <p:nvPr/>
        </p:nvSpPr>
        <p:spPr>
          <a:xfrm>
            <a:off x="676656" y="6327648"/>
            <a:ext cx="10744200" cy="201168"/>
          </a:xfrm>
          <a:prstGeom prst="rect">
            <a:avLst/>
          </a:prstGeom>
          <a:noFill/>
        </p:spPr>
        <p:txBody>
          <a:bodyPr wrap="square" lIns="0" rIns="0" tIns="0" bIns="0">
            <a:spAutoFit/>
          </a:bodyPr>
          <a:lstStyle/>
          <a:p>
            <a:pPr algn="l">
              <a:defRPr sz="700" b="0">
                <a:solidFill>
                  <a:srgbClr val="63777C"/>
                </a:solidFill>
                <a:latin typeface="Aptos"/>
              </a:defRPr>
            </a:pPr>
            <a:r>
              <a:t>More terms and examples: README.md and OTProof_Technical_Design.md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