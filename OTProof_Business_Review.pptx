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penAI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font" Target="fonts/font11.fntdata"/><Relationship Id="rId28" Type="http://schemas.openxmlformats.org/officeDocument/2006/relationships/font" Target="fonts/font12.fntdata"/><Relationship Id="rId29" Type="http://schemas.openxmlformats.org/officeDocument/2006/relationships/font" Target="fonts/font13.fntdata"/><Relationship Id="rId30" Type="http://schemas.openxmlformats.org/officeDocument/2006/relationships/font" Target="fonts/font14.fntdata"/><Relationship Id="rId31" Type="http://schemas.openxmlformats.org/officeDocument/2006/relationships/font" Target="fonts/font15.fntdata"/><Relationship Id="rId32" Type="http://schemas.openxmlformats.org/officeDocument/2006/relationships/font" Target="fonts/font16.fntdata"/><Relationship Id="rId33" Type="http://schemas.openxmlformats.org/officeDocument/2006/relationships/font" Target="fonts/font17.fntdata"/><Relationship Id="rId34" Type="http://schemas.openxmlformats.org/officeDocument/2006/relationships/font" Target="fonts/font18.fntdata"/><Relationship Id="rId35" Type="http://schemas.openxmlformats.org/officeDocument/2006/relationships/font" Target="fonts/font19.fntdata"/><Relationship Id="rId36" Type="http://schemas.openxmlformats.org/officeDocument/2006/relationships/font" Target="fonts/font20.fntdata"/><Relationship Id="rId37" Type="http://schemas.openxmlformats.org/officeDocument/2006/relationships/font" Target="fonts/font21.fntdata"/><Relationship Id="rId38" Type="http://schemas.openxmlformats.org/officeDocument/2006/relationships/font" Target="fonts/font22.fntdata"/><Relationship Id="rId39" Type="http://schemas.openxmlformats.org/officeDocument/2006/relationships/font" Target="fonts/font23.fntdata"/><Relationship Id="rId40" Type="http://schemas.openxmlformats.org/officeDocument/2006/relationships/font" Target="fonts/font24.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t>ARR ($000s)</a:t>
            </a:r>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License ARR ($000s)</c:v>
                </c:pt>
              </c:strCache>
            </c:strRef>
          </c:tx>
          <c:spPr>
            <a:solidFill>
              <a:schemeClr val="accent1"/>
            </a:solidFill>
            <a:ln>
              <a:noFill/>
            </a:ln>
            <a:effectLst/>
          </c:spPr>
          <c:invertIfNegative val="0"/>
          <c:cat>
            <c:strRef>
              <c:f>Sheet1!$A$2:$A$5</c:f>
              <c:strCache>
                <c:ptCount val="4"/>
                <c:pt idx="0">
                  <c:v>1 customer</c:v>
                </c:pt>
                <c:pt idx="1">
                  <c:v>5 customers</c:v>
                </c:pt>
                <c:pt idx="2">
                  <c:v>10 customers</c:v>
                </c:pt>
                <c:pt idx="3">
                  <c:v>25 customers</c:v>
                </c:pt>
              </c:strCache>
            </c:strRef>
          </c:cat>
          <c:val>
            <c:numRef>
              <c:f>Sheet1!$B$2:$B$5</c:f>
              <c:numCache>
                <c:formatCode>General</c:formatCode>
                <c:ptCount val="4"/>
                <c:pt idx="0">
                  <c:v>108</c:v>
                </c:pt>
                <c:pt idx="1">
                  <c:v>540</c:v>
                </c:pt>
                <c:pt idx="2">
                  <c:v>1080</c:v>
                </c:pt>
                <c:pt idx="3">
                  <c:v>2700</c:v>
                </c:pt>
              </c:numCache>
            </c:numRef>
          </c:val>
          <c:extLst>
            <c:ext xmlns:c16="http://schemas.microsoft.com/office/drawing/2014/chart" uri="{C3380CC4-5D6E-409C-BE32-E72D297353CC}">
              <c16:uniqueId val="{00000000-230A-0D4B-B6D2-57328A27E5E2}"/>
            </c:ext>
          </c:extLst>
        </c:ser>
        <c:dLbls>
          <c:txPr>
            <a:bodyPr/>
            <a:lstStyle/>
            <a:p>
              <a:pPr>
                <a:defRPr sz="1100">
                  <a:solidFill>
                    <a:srgbClr val="233346"/>
                  </a:solidFill>
                </a:defRPr>
              </a:pPr>
            </a:p>
          </c:txPr>
          <c:dLblPos val="outEnd"/>
          <c:showLegendKey val="0"/>
          <c:showVal val="1"/>
          <c:showCatName val="0"/>
          <c:showSerName val="0"/>
          <c:showPercent val="0"/>
          <c:showBubbleSize val="0"/>
        </c:dLbls>
        <c:gapWidth val="83"/>
        <c:axId val="1785928255"/>
        <c:axId val="1769229823"/>
      </c:bar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max val="3000.0"/>
          <c:min val="0.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majorUnit val="5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t>Minutes per relevant pair</a:t>
            </a:r>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Assumed minutes</c:v>
                </c:pt>
              </c:strCache>
            </c:strRef>
          </c:tx>
          <c:spPr>
            <a:solidFill>
              <a:schemeClr val="accent1"/>
            </a:solidFill>
            <a:ln>
              <a:noFill/>
            </a:ln>
            <a:effectLst/>
          </c:spPr>
          <c:invertIfNegative val="0"/>
          <c:cat>
            <c:strRef>
              <c:f>Sheet1!$A$2:$A$3</c:f>
              <c:strCache>
                <c:ptCount val="2"/>
                <c:pt idx="0">
                  <c:v>Manual review</c:v>
                </c:pt>
                <c:pt idx="1">
                  <c:v>With pre-screen</c:v>
                </c:pt>
              </c:strCache>
            </c:strRef>
          </c:cat>
          <c:val>
            <c:numRef>
              <c:f>Sheet1!$B$2:$B$3</c:f>
              <c:numCache>
                <c:formatCode>General</c:formatCode>
                <c:ptCount val="2"/>
                <c:pt idx="0">
                  <c:v>30</c:v>
                </c:pt>
                <c:pt idx="1">
                  <c:v>15</c:v>
                </c:pt>
              </c:numCache>
            </c:numRef>
          </c:val>
          <c:extLst>
            <c:ext xmlns:c16="http://schemas.microsoft.com/office/drawing/2014/chart" uri="{C3380CC4-5D6E-409C-BE32-E72D297353CC}">
              <c16:uniqueId val="{00000000-230A-0D4B-B6D2-57328A27E5E2}"/>
            </c:ext>
          </c:extLst>
        </c:ser>
        <c:dLbls>
          <c:txPr>
            <a:bodyPr/>
            <a:lstStyle/>
            <a:p>
              <a:pPr>
                <a:defRPr sz="1100">
                  <a:solidFill>
                    <a:srgbClr val="233346"/>
                  </a:solidFill>
                </a:defRPr>
              </a:pPr>
            </a:p>
          </c:txPr>
          <c:dLblPos val="outEnd"/>
          <c:showLegendKey val="0"/>
          <c:showVal val="1"/>
          <c:showCatName val="0"/>
          <c:showSerName val="0"/>
          <c:showPercent val="0"/>
          <c:showBubbleSize val="0"/>
        </c:dLbls>
        <c:gapWidth val="83"/>
        <c:axId val="1785928255"/>
        <c:axId val="1769229823"/>
      </c:bar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max val="35.0"/>
          <c:min val="0.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maj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dated product and business review, not a report of quarterly sales. OTProof is an MVP that compares operator-maintained equipment records with public security notices and keeps human review evidence together. The packaged demo uses fictional utility assets. The review focuses on what is implemented, what the fixed test set shows, the commercial assumptions, and the next evidence needed. No customer, production savings, or field accuracy claim is being made.</a:t>
            </a:r>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59633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moves from product status through customer fit, technical evidence, commercial assumptions, and a proposed validation plan. Presenter names are replaced with accountable functions because no named owners or meeting participants are available in the source material. The roles on this slide are suggested discussion owners, not assigned project staff. Use the agenda to keep the distinction clear between delivered software and hypotheses that still require operator evidence. No discussion outcome is implied.</a:t>
            </a:r>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xmlns:p14="http://schemas.microsoft.com/office/powerpoint/2010/main" val="356178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demo covers import, public notice records, deterministic matching, role-gated decisions, evidence records, audit history, and assurance exports. The main unresolved question is whether this workflow reduces repeated review effort without weakening engineering judgment. The recommended decision is to authorize discovery and a bounded pilot design, not production deployment. Pilot entry should depend on approved sample data, clear system boundaries, and an agreed measurement plan. Success criteria should include false negatives and cases correctly sent to human review.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FB72F921-54D6-E907-7BBA-A2D08F3DCA86}"/>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DBDF75A-5C6A-7C74-D0A7-94385DBCAC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E2C6E797-3671-7C12-6FF8-CDD9BCC4D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MVP status is strongest on implementation and the prepared offline workflow. The matcher uses explicit supported rules and sends uncertain data to people. Remediation and verification remain separate approval steps. Commercial proof is absent from the evidence pack: there are no reported paid customers, user time studies, or production pilots. The app's demo tokens and synthetic records are not production controls. This scorecard summarizes delivered software, not enterprise readiness or independently assessed security.</a:t>
            </a:r>
          </a:p>
        </p:txBody>
      </p:sp>
    </p:spTree>
    <p:extLst>
      <p:ext uri="{BB962C8B-B14F-4D97-AF65-F5344CB8AC3E}">
        <p14:creationId xmlns:p14="http://schemas.microsoft.com/office/powerpoint/2010/main" val="209696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30C862B-049F-B436-7F35-91EE3D911DCC}"/>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EF9CC9C-1F90-C4AD-F667-199F86F685D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58CD0644-321E-6D30-5913-BFF9A2B8E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Walk through the user journey from spreadsheet and advisory import to a possible candidate, review, proposed work, approval, supporting evidence, and verification. Product matching is source-backed and deterministic within the supported rules. A human records the applicability decision. An engineer proposes work; an approver reviews it; and only an approver can verify remediation against evidence. AI-generated text cannot close a finding. The application is passive and has no interface for scanning or modifying OT equipment.</a:t>
            </a:r>
          </a:p>
        </p:txBody>
      </p:sp>
    </p:spTree>
    <p:extLst>
      <p:ext uri="{BB962C8B-B14F-4D97-AF65-F5344CB8AC3E}">
        <p14:creationId xmlns:p14="http://schemas.microsoft.com/office/powerpoint/2010/main" val="37440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B30B3C1-D818-E0F9-1E40-85E862088E8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33E18C8F-F2F8-56EA-C905-4B0E377B0BE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25ECFD9E-E6AC-EBEE-FC82-79604D288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Cedar Valley Water Utility and all assets are fictional. The generator uses a fixed seed so the demo can be repeated consistently. The 80 records include edge cases such as missing versions, old inventory dates, duplicate identities, inconsistent vendor spelling, and similar products. Three actual CISA advisories are retained as public-source fixtures. In the 14 labeled cases, the expected outcomes were returned: four affected examples found, four outside the notice range excluded, and six uncertain cases sent for human review. Every labeled result kept its source ID, URL, and supporting text. This narrow fixture pass is not a field-accuracy estimate. Source dates are in data/fixtures/SOURCES.md.</a:t>
            </a:r>
          </a:p>
        </p:txBody>
      </p:sp>
    </p:spTree>
    <p:extLst>
      <p:ext uri="{BB962C8B-B14F-4D97-AF65-F5344CB8AC3E}">
        <p14:creationId xmlns:p14="http://schemas.microsoft.com/office/powerpoint/2010/main" val="167443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CFF8FD1-F32C-FBBD-584A-C36FE0DF491E}"/>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C2432F26-92DC-62C8-ED09-AB1B1F5F551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3E256758-F923-3503-0236-6FA20A85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Target segments are interview hypotheses, not qualified leads. Water, energy, oil and gas, maintenance contractors, managed OT security providers, and defense-support facilities are potential users listed in the business case. Public product pages show that established vendors already cover much of asset inventory, exposure management, monitoring, and audit workflow. OTProof has not established a competitive advantage. Its possible role is as a narrow source-to-review-and-evidence layer or integration. Interviews must determine whether installed tools already solve this need.</a:t>
            </a:r>
          </a:p>
        </p:txBody>
      </p:sp>
    </p:spTree>
    <p:extLst>
      <p:ext uri="{BB962C8B-B14F-4D97-AF65-F5344CB8AC3E}">
        <p14:creationId xmlns:p14="http://schemas.microsoft.com/office/powerpoint/2010/main" val="247470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A5A6CCB-F299-ADEB-D492-5FE3101CBB0B}"/>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6137CCB-04A6-5F38-95AD-985416E1A4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091A5E6-876C-B5D0-B6CE-ECBD1EA86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is the central maturity statement: the MVP exists, but customer value remains unproven. The fixed synthetic benchmark is not a customer study, and arithmetic labor sensitivity is not measured savings. We do not have evidence of conversion, renewal, buyer willingness to pay, or operational risk reduction. The next stage is a small, safe design-partner study with approved sample data and agreed engineering labels. The product should only be expanded if users report a recurring gap and the technical evaluation supports it.</a:t>
            </a:r>
          </a:p>
        </p:txBody>
      </p:sp>
    </p:spTree>
    <p:extLst>
      <p:ext uri="{BB962C8B-B14F-4D97-AF65-F5344CB8AC3E}">
        <p14:creationId xmlns:p14="http://schemas.microsoft.com/office/powerpoint/2010/main" val="398153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D2FA91CC-0B77-6DA0-1482-7083FF9F63F7}"/>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F79B991-DA38-9CBA-D34B-4F082108B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FA8076AB-FD4D-6EBD-3F87-066813F80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table shows arithmetic scenarios, not actual customers or financial performance. Each assumes three licensed sites per customer, a $36,000 annual site license, and a $25,000 one-time setup fee per new customer. Annual recurring revenue includes subscription only. First-year revenue adds setup. Gross profit applies assumed 78% software and 40% setup-services margins. The MVP has generated no revenue. These cases are not bookings, a market-size estimate, or a forecast; they omit conversion rates and need customer and delivery-cost validation.</a:t>
            </a:r>
          </a:p>
        </p:txBody>
      </p:sp>
    </p:spTree>
    <p:extLst>
      <p:ext uri="{BB962C8B-B14F-4D97-AF65-F5344CB8AC3E}">
        <p14:creationId xmlns:p14="http://schemas.microsoft.com/office/powerpoint/2010/main" val="1730285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067008F-DEAC-B8F4-2359-205F6F195BA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D0E8783A-C49B-DC37-27A0-5B583D55093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12AD1EB6-38FE-E70D-9542-BC488087E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subscription model is arithmetic based on $36,000 per site per year, three sites per customer, and a $25,000 one-time setup charge per new customer. The chart shows recurring license revenue only. The business case assumes 78% software gross margin and 40% setup-services gross margin to calculate illustrative first-year gross profit. These are not supplier quotes, customer commitments, market sizing, bookings, or a forecast. Current MVP revenue is reported as zero. Each pricing and margin input requires cost analysis and customer interviews.</a:t>
            </a:r>
          </a:p>
        </p:txBody>
      </p:sp>
    </p:spTree>
    <p:extLst>
      <p:ext uri="{BB962C8B-B14F-4D97-AF65-F5344CB8AC3E}">
        <p14:creationId xmlns:p14="http://schemas.microsoft.com/office/powerpoint/2010/main" val="3094995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71054682-DD96-8E88-C2CA-AB1496CA8B1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4203AA1-1C05-EDFC-35F9-DD3970DA60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F80D632-F012-4540-2F11-B1545774C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labor sensitivity uses 80 assets, 12 relevant advisory-product pairs per asset each year, and a change from 30 to 15 minutes for initial review. At $80 loaded labor cost per hour, the arithmetic is 240 hours and $19,200 of potential labor value. This is not a measured saving or ROI. The assumptions may not hold: pairs may vary, engineers still need to assess, and the software may add setup or review time. Measure actual baseline and pilot time before using this in a commercial claim.</a:t>
            </a:r>
          </a:p>
        </p:txBody>
      </p:sp>
    </p:spTree>
    <p:extLst>
      <p:ext uri="{BB962C8B-B14F-4D97-AF65-F5344CB8AC3E}">
        <p14:creationId xmlns:p14="http://schemas.microsoft.com/office/powerpoint/2010/main" val="3346200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660624CF-871F-6C1A-3A40-064D7581713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517905A2-2B1F-6EBD-F467-D5DA4CFF57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836FD638-E9DC-1F2D-C7CC-0F9E5672A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Gantt layout keeps the template's visual timeline. The workstream bars describe an illustrative 12-week sequence: recruit design partners, map inventory and source data, conduct a blind label test, run a controlled workflow pilot, measure review time and engineer agreement, and complete the partner's security review. These are planning suggestions only. Before starting, identify a responsible owner, agree the data handling boundary, and document what success and stop conditions mean. Do not connect the pilot service to OT networks or devices.</a:t>
            </a:r>
          </a:p>
        </p:txBody>
      </p:sp>
    </p:spTree>
    <p:extLst>
      <p:ext uri="{BB962C8B-B14F-4D97-AF65-F5344CB8AC3E}">
        <p14:creationId xmlns:p14="http://schemas.microsoft.com/office/powerpoint/2010/main" val="4154251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D9C57-F2D4-0074-5E69-DF23767A5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C5DF4-FB2A-E8CB-7686-BDF529D24F55}"/>
              </a:ext>
            </a:extLst>
          </p:cNvPr>
          <p:cNvSpPr>
            <a:spLocks noGrp="1"/>
          </p:cNvSpPr>
          <p:nvPr>
            <p:ph type="body" idx="1"/>
          </p:nvPr>
        </p:nvSpPr>
        <p:spPr/>
        <p:txBody>
          <a:bodyPr/>
          <a:lstStyle/>
          <a:p>
            <a:r>
              <a:t>The recommended next step is to seek a small number of design partners for a controlled study. Use approved sample data, keep the system in the IT environment, and preserve operator control over all findings and remediation decisions. Measure missed affected products, engineering agreement, correct abstention, review minutes, onboarding effort, and willingness to pay. Review security and deployment requirements before any live use. Only after the results are documented should the team decide whether to expand integrations, pricing, or commercial activity.</a:t>
            </a:r>
          </a:p>
        </p:txBody>
      </p:sp>
      <p:sp>
        <p:nvSpPr>
          <p:cNvPr id="4" name="Slide Number Placeholder 3">
            <a:extLst>
              <a:ext uri="{FF2B5EF4-FFF2-40B4-BE49-F238E27FC236}">
                <a16:creationId xmlns:a16="http://schemas.microsoft.com/office/drawing/2014/main"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xmlns:p14="http://schemas.microsoft.com/office/powerpoint/2010/main" val="4206625508"/>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milestones are proposed, not staffed or committed. The first month would recruit and interview three to five possible design partners and agree data boundaries. The second would have engineers label examples across multiple products and compare the system's results without biasing their judgments. The third would review measured accuracy, abstentions, review time, security/deployment fit, integration requests, and willingness to pay. The review should include a go/no-go decision and publish the limits, including any cases the parser could not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OTProof MVP Business Review</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Current product evidence, commercial assumptions, and the next proof points for industrial operators.</a:t>
            </a:r>
          </a:p>
        </p:txBody>
      </p:sp>
      <p:sp>
        <p:nvSpPr>
          <p:cNvPr id="6" name="Subtitle 4">
            <a:extLst>
              <a:ext uri="{FF2B5EF4-FFF2-40B4-BE49-F238E27FC236}">
                <a16:creationId xmlns:a16="http://schemas.microsoft.com/office/drawing/2014/main"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Review baseline · 27 October 2026</a:t>
            </a:r>
          </a:p>
        </p:txBody>
      </p:sp>
      <p:sp>
        <p:nvSpPr>
          <p:cNvPr id="10" name="Subtitle 4">
            <a:extLst>
              <a:ext uri="{FF2B5EF4-FFF2-40B4-BE49-F238E27FC236}">
                <a16:creationId xmlns:a16="http://schemas.microsoft.com/office/drawing/2014/main"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OTProof · Eureka Hackathon</a:t>
            </a:r>
          </a:p>
        </p:txBody>
      </p:sp>
      <p:cxnSp>
        <p:nvCxnSpPr>
          <p:cNvPr id="7" name="Straight Connector 6">
            <a:extLst>
              <a:ext uri="{FF2B5EF4-FFF2-40B4-BE49-F238E27FC236}">
                <a16:creationId xmlns:a16="http://schemas.microsoft.com/office/drawing/2014/main"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xmlns:a16="http://schemas.microsoft.com/office/drawing/2014/main" id="{40BD946D-556A-ECA8-679C-19ABE963A4E5}"/>
              </a:ext>
            </a:extLst>
          </p:cNvPr>
          <p:cNvSpPr>
            <a:spLocks noGrp="1"/>
          </p:cNvSpPr>
          <p:nvPr>
            <p:ph type="title"/>
          </p:nvPr>
        </p:nvSpPr>
        <p:spPr>
          <a:xfrm>
            <a:off x="393699" y="1046195"/>
            <a:ext cx="9448800" cy="985805"/>
          </a:xfrm>
        </p:spPr>
        <p:txBody>
          <a:bodyPr>
            <a:normAutofit/>
          </a:bodyPr>
          <a:lstStyle/>
          <a:p>
            <a:r>
              <a:rPr lang="en-US" dirty="0"/>
              <a:t>OTProof product and business review</a:t>
            </a:r>
          </a:p>
        </p:txBody>
      </p:sp>
      <p:sp>
        <p:nvSpPr>
          <p:cNvPr id="5" name="Subtitle 4">
            <a:extLst>
              <a:ext uri="{FF2B5EF4-FFF2-40B4-BE49-F238E27FC236}">
                <a16:creationId xmlns:a16="http://schemas.microsoft.com/office/drawing/2014/main"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Agenda</a:t>
            </a:r>
          </a:p>
        </p:txBody>
      </p:sp>
      <p:graphicFrame>
        <p:nvGraphicFramePr>
          <p:cNvPr id="7" name="Table 6">
            <a:extLst>
              <a:ext uri="{FF2B5EF4-FFF2-40B4-BE49-F238E27FC236}">
                <a16:creationId xmlns:a16="http://schemas.microsoft.com/office/drawing/2014/main" id="{AEB3874C-EF1B-D79F-C3F5-6702ABF89D27}"/>
              </a:ext>
            </a:extLst>
          </p:cNvPr>
          <p:cNvGraphicFramePr>
            <a:graphicFrameLocks noGrp="1"/>
          </p:cNvGraphicFramePr>
          <p:nvPr>
            <p:extLst>
              <p:ext uri="{D42A27DB-BD31-4B8C-83A1-F6EECF244321}">
                <p14:modId xmlns:p14="http://schemas.microsoft.com/office/powerpoint/2010/main"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xmlns:a16="http://schemas.microsoft.com/office/drawing/2014/main" val="1631070132"/>
                    </a:ext>
                  </a:extLst>
                </a:gridCol>
                <a:gridCol w="6875813">
                  <a:extLst>
                    <a:ext uri="{9D8B030D-6E8A-4147-A177-3AD203B41FA5}">
                      <a16:colId xmlns:a16="http://schemas.microsoft.com/office/drawing/2014/main" val="1616312772"/>
                    </a:ext>
                  </a:extLst>
                </a:gridCol>
                <a:gridCol w="3901209">
                  <a:extLst>
                    <a:ext uri="{9D8B030D-6E8A-4147-A177-3AD203B41FA5}">
                      <a16:colId xmlns:a16="http://schemas.microsoft.com/office/drawing/2014/main"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Executive review and decision</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Leadership</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MVP delivery and workflow</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Product</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Customer fit and competition</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Strategy</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Test results and limits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Engineering</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Pricing and value hypotheses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Finance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Proposed 90-day validation</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Team</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08150"/>
                  </a:ext>
                </a:extLst>
              </a:tr>
            </a:tbl>
          </a:graphicData>
        </a:graphic>
      </p:graphicFrame>
      <p:sp>
        <p:nvSpPr>
          <p:cNvPr id="4" name="Footer Placeholder 3">
            <a:extLst>
              <a:ext uri="{FF2B5EF4-FFF2-40B4-BE49-F238E27FC236}">
                <a16:creationId xmlns:a16="http://schemas.microsoft.com/office/drawing/2014/main"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36013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working demo covers inventory import, public notices, deterministic comparison, human review, evidence capture, and assurance export.</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3</a:t>
            </a:fld>
            <a:endParaRPr dirty="0">
              <a:sym typeface="OpenAI Sans"/>
            </a:endParaRPr>
          </a:p>
        </p:txBody>
      </p:sp>
      <p:sp>
        <p:nvSpPr>
          <p:cNvPr id="2" name="Footer Placeholder 1">
            <a:extLst>
              <a:ext uri="{FF2B5EF4-FFF2-40B4-BE49-F238E27FC236}">
                <a16:creationId xmlns:a16="http://schemas.microsoft.com/office/drawing/2014/main"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xmlns:a16="http://schemas.microsoft.com/office/drawing/2014/main"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MVP status</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6" name="Google Shape;534;p58">
            <a:extLst>
              <a:ext uri="{FF2B5EF4-FFF2-40B4-BE49-F238E27FC236}">
                <a16:creationId xmlns:a16="http://schemas.microsoft.com/office/drawing/2014/main"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Can source-backed pre-screening reduce repeat research while keeping engineers in control? The current fixture results are encouraging for the rule path, but no operator time study or customer pilot has tested the value claim.</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7" name="Google Shape;534;p58">
            <a:extLst>
              <a:ext uri="{FF2B5EF4-FFF2-40B4-BE49-F238E27FC236}">
                <a16:creationId xmlns:a16="http://schemas.microsoft.com/office/drawing/2014/main"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The key business question</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0" name="Title 2">
            <a:extLst>
              <a:ext uri="{FF2B5EF4-FFF2-40B4-BE49-F238E27FC236}">
                <a16:creationId xmlns:a16="http://schemas.microsoft.com/office/drawing/2014/main" id="{944AF173-BF22-B5ED-B88F-9080D8699E64}"/>
              </a:ext>
            </a:extLst>
          </p:cNvPr>
          <p:cNvSpPr>
            <a:spLocks noGrp="1"/>
          </p:cNvSpPr>
          <p:nvPr>
            <p:ph type="title"/>
          </p:nvPr>
        </p:nvSpPr>
        <p:spPr>
          <a:xfrm>
            <a:off x="393699" y="1046195"/>
            <a:ext cx="11403610" cy="623819"/>
          </a:xfrm>
        </p:spPr>
        <p:txBody>
          <a:bodyPr>
            <a:normAutofit/>
          </a:bodyPr>
          <a:lstStyle/>
          <a:p>
            <a:r>
              <a:rPr lang="en-US" dirty="0"/>
              <a:t>MVP delivered; market proof remains</a:t>
            </a:r>
          </a:p>
        </p:txBody>
      </p:sp>
      <p:sp>
        <p:nvSpPr>
          <p:cNvPr id="11" name="Subtitle 4">
            <a:extLst>
              <a:ext uri="{FF2B5EF4-FFF2-40B4-BE49-F238E27FC236}">
                <a16:creationId xmlns:a16="http://schemas.microsoft.com/office/drawing/2014/main"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Executive Summary</a:t>
            </a:r>
          </a:p>
        </p:txBody>
      </p:sp>
      <p:cxnSp>
        <p:nvCxnSpPr>
          <p:cNvPr id="15" name="Straight Connector 14">
            <a:extLst>
              <a:ext uri="{FF2B5EF4-FFF2-40B4-BE49-F238E27FC236}">
                <a16:creationId xmlns:a16="http://schemas.microsoft.com/office/drawing/2014/main"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xmlns:a16="http://schemas.microsoft.com/office/drawing/2014/main"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Recruit 3–5 design partners for a bounded test. Agree the owner, data boundary, and pass/fail measures before a pilot; do not authorize production use yet.</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17" name="Google Shape;534;p58">
            <a:extLst>
              <a:ext uri="{FF2B5EF4-FFF2-40B4-BE49-F238E27FC236}">
                <a16:creationId xmlns:a16="http://schemas.microsoft.com/office/drawing/2014/main"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Proposed leadership decision</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3" name="Rounded Rectangle 2">
            <a:extLst>
              <a:ext uri="{FF2B5EF4-FFF2-40B4-BE49-F238E27FC236}">
                <a16:creationId xmlns:a16="http://schemas.microsoft.com/office/drawing/2014/main"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Pilot discovery</a:t>
            </a:r>
          </a:p>
        </p:txBody>
      </p:sp>
      <p:sp>
        <p:nvSpPr>
          <p:cNvPr id="14" name="TextBox 13">
            <a:extLst>
              <a:ext uri="{FF2B5EF4-FFF2-40B4-BE49-F238E27FC236}">
                <a16:creationId xmlns:a16="http://schemas.microsoft.com/office/drawing/2014/main"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Bottom line</a:t>
            </a:r>
          </a:p>
        </p:txBody>
      </p:sp>
      <p:sp>
        <p:nvSpPr>
          <p:cNvPr id="18" name="Google Shape;534;p58">
            <a:extLst>
              <a:ext uri="{FF2B5EF4-FFF2-40B4-BE49-F238E27FC236}">
                <a16:creationId xmlns:a16="http://schemas.microsoft.com/office/drawing/2014/main"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 functional demo and source-linked evidence exist. Customer demand, labor savings, LLM accuracy, and production readiness remain unmeasured.</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FE338EF2-CCFB-FA1F-AED3-8C8C1BA35C4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4</a:t>
            </a:fld>
            <a:endParaRPr dirty="0">
              <a:sym typeface="OpenAI Sans"/>
            </a:endParaRPr>
          </a:p>
        </p:txBody>
      </p:sp>
      <p:sp>
        <p:nvSpPr>
          <p:cNvPr id="533" name="Google Shape;533;p58">
            <a:extLst>
              <a:ext uri="{FF2B5EF4-FFF2-40B4-BE49-F238E27FC236}">
                <a16:creationId xmlns:a16="http://schemas.microsoft.com/office/drawing/2014/main"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MVP delivery scorecard</a:t>
            </a:r>
            <a:endParaRPr dirty="0">
              <a:solidFill>
                <a:schemeClr val="accent1"/>
              </a:solidFill>
            </a:endParaRPr>
          </a:p>
        </p:txBody>
      </p:sp>
      <p:sp>
        <p:nvSpPr>
          <p:cNvPr id="7" name="Rounded Rectangle 6">
            <a:extLst>
              <a:ext uri="{FF2B5EF4-FFF2-40B4-BE49-F238E27FC236}">
                <a16:creationId xmlns:a16="http://schemas.microsoft.com/office/drawing/2014/main"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xmlns:a16="http://schemas.microsoft.com/office/drawing/2014/main"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xmlns:a16="http://schemas.microsoft.com/office/drawing/2014/main"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Local dashboard and SQLite demo; PostgreSQL Compose setup is configured, but container startup was not verified. Inventory, sources, review, evidence, and exports work locally.</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 name="Rounded Rectangle 1">
            <a:extLst>
              <a:ext uri="{FF2B5EF4-FFF2-40B4-BE49-F238E27FC236}">
                <a16:creationId xmlns:a16="http://schemas.microsoft.com/office/drawing/2014/main"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xmlns:a16="http://schemas.microsoft.com/office/drawing/2014/main"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xmlns:a16="http://schemas.microsoft.com/office/drawing/2014/main"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xmlns:a16="http://schemas.microsoft.com/office/drawing/2014/main"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Status as of 27 October 2026. Capabilities below were implemented in the demo; customer outcomes remain unmeasured.</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Google Shape;534;p58">
            <a:extLst>
              <a:ext uri="{FF2B5EF4-FFF2-40B4-BE49-F238E27FC236}">
                <a16:creationId xmlns:a16="http://schemas.microsoft.com/office/drawing/2014/main"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Working product; narrow test evidence; no operator validation.</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4" name="TextBox 13">
            <a:extLst>
              <a:ext uri="{FF2B5EF4-FFF2-40B4-BE49-F238E27FC236}">
                <a16:creationId xmlns:a16="http://schemas.microsoft.com/office/drawing/2014/main"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Working MVP</a:t>
            </a:r>
          </a:p>
        </p:txBody>
      </p:sp>
      <p:sp>
        <p:nvSpPr>
          <p:cNvPr id="16" name="Content Placeholder 10">
            <a:extLst>
              <a:ext uri="{FF2B5EF4-FFF2-40B4-BE49-F238E27FC236}">
                <a16:creationId xmlns:a16="http://schemas.microsoft.com/office/drawing/2014/main"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Curated aliases and explicit version rules. Missing or ambiguous records go to human review; semantic similarity does not decide applicability.</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7" name="TextBox 16">
            <a:extLst>
              <a:ext uri="{FF2B5EF4-FFF2-40B4-BE49-F238E27FC236}">
                <a16:creationId xmlns:a16="http://schemas.microsoft.com/office/drawing/2014/main"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Rule-based screening</a:t>
            </a:r>
          </a:p>
        </p:txBody>
      </p:sp>
      <p:sp>
        <p:nvSpPr>
          <p:cNvPr id="18" name="Content Placeholder 10">
            <a:extLst>
              <a:ext uri="{FF2B5EF4-FFF2-40B4-BE49-F238E27FC236}">
                <a16:creationId xmlns:a16="http://schemas.microsoft.com/office/drawing/2014/main"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Reviewer decisions, proposed work, approval, evidence attachment, and final verification are separate role-gated steps.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9" name="TextBox 18">
            <a:extLst>
              <a:ext uri="{FF2B5EF4-FFF2-40B4-BE49-F238E27FC236}">
                <a16:creationId xmlns:a16="http://schemas.microsoft.com/office/drawing/2014/main"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Review and evidence</a:t>
            </a:r>
          </a:p>
        </p:txBody>
      </p:sp>
      <p:sp>
        <p:nvSpPr>
          <p:cNvPr id="20" name="Content Placeholder 10">
            <a:extLst>
              <a:ext uri="{FF2B5EF4-FFF2-40B4-BE49-F238E27FC236}">
                <a16:creationId xmlns:a16="http://schemas.microsoft.com/office/drawing/2014/main"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No customer revenue, production time study, or operator pilot is reported. Willingness to pay and integration demand remain open questions.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1" name="TextBox 20">
            <a:extLst>
              <a:ext uri="{FF2B5EF4-FFF2-40B4-BE49-F238E27FC236}">
                <a16:creationId xmlns:a16="http://schemas.microsoft.com/office/drawing/2014/main"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Commercial proof</a:t>
            </a:r>
          </a:p>
        </p:txBody>
      </p:sp>
    </p:spTree>
    <p:extLst>
      <p:ext uri="{BB962C8B-B14F-4D97-AF65-F5344CB8AC3E}">
        <p14:creationId xmlns:p14="http://schemas.microsoft.com/office/powerpoint/2010/main" val="2179535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0781FDF-4130-4E67-D3EE-AE7C2129CF1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5</a:t>
            </a:fld>
            <a:endParaRPr dirty="0">
              <a:sym typeface="OpenAI Sans"/>
            </a:endParaRPr>
          </a:p>
        </p:txBody>
      </p:sp>
      <p:sp>
        <p:nvSpPr>
          <p:cNvPr id="533" name="Google Shape;533;p58">
            <a:extLst>
              <a:ext uri="{FF2B5EF4-FFF2-40B4-BE49-F238E27FC236}">
                <a16:creationId xmlns:a16="http://schemas.microsoft.com/office/drawing/2014/main"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From public notice to reviewed evidence</a:t>
            </a:r>
            <a:endParaRPr dirty="0">
              <a:solidFill>
                <a:schemeClr val="accent1"/>
              </a:solidFill>
            </a:endParaRPr>
          </a:p>
        </p:txBody>
      </p:sp>
      <p:sp>
        <p:nvSpPr>
          <p:cNvPr id="11" name="Footer Placeholder 10">
            <a:extLst>
              <a:ext uri="{FF2B5EF4-FFF2-40B4-BE49-F238E27FC236}">
                <a16:creationId xmlns:a16="http://schemas.microsoft.com/office/drawing/2014/main"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An operator imports an existing equipment list and an approved public security notice. OTProof compares supported vendor, product, model, configuration, and version details, then shows the values and source behind each possible finding.</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Missing, old, or unsupported information goes to human review. A reviewer records a decision; an engineer proposes work; an approver reviews it; evidence is attached; and an approver records verification. Only that explicit human step closes the remediation workflow.</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 name="Google Shape;534;p58">
            <a:extLst>
              <a:ext uri="{FF2B5EF4-FFF2-40B4-BE49-F238E27FC236}">
                <a16:creationId xmlns:a16="http://schemas.microsoft.com/office/drawing/2014/main"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The product supports a review workflow; it does not make a plant decision.</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
        <p:nvSpPr>
          <p:cNvPr id="27" name="Content Placeholder 10">
            <a:extLst>
              <a:ext uri="{FF2B5EF4-FFF2-40B4-BE49-F238E27FC236}">
                <a16:creationId xmlns:a16="http://schemas.microsoft.com/office/drawing/2014/main"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Keep source link, publication date, version statement, and the exact inventory fields used in the comparison.</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8" name="TextBox 27">
            <a:extLst>
              <a:ext uri="{FF2B5EF4-FFF2-40B4-BE49-F238E27FC236}">
                <a16:creationId xmlns:a16="http://schemas.microsoft.com/office/drawing/2014/main"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Notice → candidate</a:t>
            </a:r>
          </a:p>
        </p:txBody>
      </p:sp>
      <p:sp>
        <p:nvSpPr>
          <p:cNvPr id="2" name="Rounded Rectangle 1">
            <a:extLst>
              <a:ext uri="{FF2B5EF4-FFF2-40B4-BE49-F238E27FC236}">
                <a16:creationId xmlns:a16="http://schemas.microsoft.com/office/drawing/2014/main"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xmlns:a16="http://schemas.microsoft.com/office/drawing/2014/main"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 reviewer owns the applicability decision. An engineer proposes a plan; an approver accepts or rejects it with a rationale.</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6" name="TextBox 5">
            <a:extLst>
              <a:ext uri="{FF2B5EF4-FFF2-40B4-BE49-F238E27FC236}">
                <a16:creationId xmlns:a16="http://schemas.microsoft.com/office/drawing/2014/main"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Candidate → human review</a:t>
            </a:r>
          </a:p>
        </p:txBody>
      </p:sp>
      <p:sp>
        <p:nvSpPr>
          <p:cNvPr id="7" name="Rounded Rectangle 6">
            <a:extLst>
              <a:ext uri="{FF2B5EF4-FFF2-40B4-BE49-F238E27FC236}">
                <a16:creationId xmlns:a16="http://schemas.microsoft.com/office/drawing/2014/main"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xmlns:a16="http://schemas.microsoft.com/office/drawing/2014/main"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Attach a supporting record, then require an approver to verify it. An attachment or AI-written sentence is not proof of remediation.</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9" name="TextBox 8">
            <a:extLst>
              <a:ext uri="{FF2B5EF4-FFF2-40B4-BE49-F238E27FC236}">
                <a16:creationId xmlns:a16="http://schemas.microsoft.com/office/drawing/2014/main"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Evidence → verification</a:t>
            </a:r>
          </a:p>
        </p:txBody>
      </p:sp>
      <p:sp>
        <p:nvSpPr>
          <p:cNvPr id="10" name="Rounded Rectangle 9">
            <a:extLst>
              <a:ext uri="{FF2B5EF4-FFF2-40B4-BE49-F238E27FC236}">
                <a16:creationId xmlns:a16="http://schemas.microsoft.com/office/drawing/2014/main"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336614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4C3029DB-B611-6782-57C9-74AD8C9AF80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6</a:t>
            </a:fld>
            <a:endParaRPr dirty="0">
              <a:sym typeface="OpenAI Sans"/>
            </a:endParaRPr>
          </a:p>
        </p:txBody>
      </p:sp>
      <p:sp>
        <p:nvSpPr>
          <p:cNvPr id="10" name="Rounded Rectangle 9">
            <a:extLst>
              <a:ext uri="{FF2B5EF4-FFF2-40B4-BE49-F238E27FC236}">
                <a16:creationId xmlns:a16="http://schemas.microsoft.com/office/drawing/2014/main"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xmlns:a16="http://schemas.microsoft.com/office/drawing/2014/main"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3 CISA notices</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Public advisories retained with source links and publication details.</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3" name="Content Placeholder 10">
            <a:extLst>
              <a:ext uri="{FF2B5EF4-FFF2-40B4-BE49-F238E27FC236}">
                <a16:creationId xmlns:a16="http://schemas.microsoft.com/office/drawing/2014/main"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14 labeled pairs</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Prepared examples cover affected, unaffected, and uncertain cases.</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4" name="Google Shape;340;p61">
            <a:extLst>
              <a:ext uri="{FF2B5EF4-FFF2-40B4-BE49-F238E27FC236}">
                <a16:creationId xmlns:a16="http://schemas.microsoft.com/office/drawing/2014/main"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xmlns:a16="http://schemas.microsoft.com/office/drawing/2014/main"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xmlns:a16="http://schemas.microsoft.com/office/drawing/2014/main"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xmlns:a16="http://schemas.microsoft.com/office/drawing/2014/main"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The demo is reproducible and can run without public feeds or a local AI model</a:t>
            </a:r>
          </a:p>
        </p:txBody>
      </p:sp>
      <p:sp>
        <p:nvSpPr>
          <p:cNvPr id="5" name="Rounded Rectangle 4">
            <a:extLst>
              <a:ext uri="{FF2B5EF4-FFF2-40B4-BE49-F238E27FC236}">
                <a16:creationId xmlns:a16="http://schemas.microsoft.com/office/drawing/2014/main"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xmlns:a16="http://schemas.microsoft.com/office/drawing/2014/main"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80 fictional assets</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Fixed-seed utility inventory; no real site or device data.</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7" name="Google Shape;340;p61">
            <a:extLst>
              <a:ext uri="{FF2B5EF4-FFF2-40B4-BE49-F238E27FC236}">
                <a16:creationId xmlns:a16="http://schemas.microsoft.com/office/drawing/2014/main"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xmlns:a16="http://schemas.microsoft.com/office/drawing/2014/main"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Cedar Valley Water Utility is fictional. Its fixed-seed inventory includes inconsistent vendor spelling, missing firmware, unknown models, duplicate identities, stale inventory dates, similar-but-different products, and version-boundary cases.</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Three genuine CISA ICS notices are included as offline fixtures with source URLs and dates. In 14 labeled cases, all expected outcomes were returned: 4 affected found, 4 outside-range excluded, 6 sent to human review. All retained source traceability. One 1.008 ms local matcher pass covered 240 pairs; no local model or user time study was run.</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Google Shape;534;p58">
            <a:extLst>
              <a:ext uri="{FF2B5EF4-FFF2-40B4-BE49-F238E27FC236}">
                <a16:creationId xmlns:a16="http://schemas.microsoft.com/office/drawing/2014/main"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What the demo actually contains</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Tree>
    <p:extLst>
      <p:ext uri="{BB962C8B-B14F-4D97-AF65-F5344CB8AC3E}">
        <p14:creationId xmlns:p14="http://schemas.microsoft.com/office/powerpoint/2010/main" val="156618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955627D7-4531-FF60-E9C2-2F11A6392F36}"/>
            </a:ext>
          </a:extLst>
        </p:cNvPr>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Water and wastewater utilities; electric and energy operators; oil and gas sites; industrial maintenance contractors; managed OT security providers; and defense-support facilities. Likely champions include an OT security lead, plant engineering manager, asset owner, or managed-service practice lead. These are interview targets, not validated customers or a measured market.</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532" name="Google Shape;532;p58">
            <a:extLst>
              <a:ext uri="{FF2B5EF4-FFF2-40B4-BE49-F238E27FC236}">
                <a16:creationId xmlns:a16="http://schemas.microsoft.com/office/drawing/2014/main"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penAI Sans"/>
              </a:rPr>
              <a:pPr/>
              <a:t>7</a:t>
            </a:fld>
            <a:endParaRPr lang="en" dirty="0">
              <a:sym typeface="OpenAI Sans"/>
            </a:endParaRPr>
          </a:p>
        </p:txBody>
      </p:sp>
      <p:sp>
        <p:nvSpPr>
          <p:cNvPr id="533" name="Google Shape;533;p58">
            <a:extLst>
              <a:ext uri="{FF2B5EF4-FFF2-40B4-BE49-F238E27FC236}">
                <a16:creationId xmlns:a16="http://schemas.microsoft.com/office/drawing/2014/main"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Where to test fit — and what buyers compare against</a:t>
            </a:r>
          </a:p>
        </p:txBody>
      </p:sp>
      <p:sp>
        <p:nvSpPr>
          <p:cNvPr id="2" name="Google Shape;534;p58">
            <a:extLst>
              <a:ext uri="{FF2B5EF4-FFF2-40B4-BE49-F238E27FC236}">
                <a16:creationId xmlns:a16="http://schemas.microsoft.com/office/drawing/2014/main"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Competitive reality: Claroty, Tenable, and Nozomi publicly describe broader OT inventory, exposure, or monitoring products. ServiceNow-type governance tools support risk and audit workflows. OTProof has not shown a coverage, accuracy, or cost advantage. Its differentiation hypothesis is a narrow source-linked handoff between inventory, engineer review, and evidence records. Existing platforms may already meet the need; integration and buyer interviews must test that hypothesis.</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Segments to interview first</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xmlns:p14="http://schemas.microsoft.com/office/powerpoint/2010/main" val="54622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F4F4A9C-A879-377C-6409-053F582355F7}"/>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8</a:t>
            </a:fld>
            <a:endParaRPr dirty="0">
              <a:sym typeface="OpenAI Sans"/>
            </a:endParaRPr>
          </a:p>
        </p:txBody>
      </p:sp>
      <p:sp>
        <p:nvSpPr>
          <p:cNvPr id="533" name="Google Shape;533;p58">
            <a:extLst>
              <a:ext uri="{FF2B5EF4-FFF2-40B4-BE49-F238E27FC236}">
                <a16:creationId xmlns:a16="http://schemas.microsoft.com/office/drawing/2014/main"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MVP built; customer value remains unproven</a:t>
            </a:r>
            <a:br>
              <a:rPr lang="en-US" sz="4200" dirty="0">
                <a:solidFill>
                  <a:schemeClr val="accent1"/>
                </a:solidFill>
              </a:rPr>
            </a:br>
            <a:r>
              <a:rPr lang="en-US" sz="4200" dirty="0">
                <a:solidFill>
                  <a:schemeClr val="accent1"/>
                </a:solidFill>
              </a:rPr>
              <a:t/>
            </a:r>
            <a:endParaRPr sz="4200" dirty="0">
              <a:solidFill>
                <a:schemeClr val="accent1"/>
              </a:solidFill>
            </a:endParaRPr>
          </a:p>
        </p:txBody>
      </p:sp>
      <p:sp>
        <p:nvSpPr>
          <p:cNvPr id="2" name="Footer Placeholder 1">
            <a:extLst>
              <a:ext uri="{FF2B5EF4-FFF2-40B4-BE49-F238E27FC236}">
                <a16:creationId xmlns:a16="http://schemas.microsoft.com/office/drawing/2014/main"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penAI Sans"/>
              </a:rPr>
              <a:t>No paid customer, production time study, operator pilot, or field-accuracy result is in evidence. The product hypothesis is that a conservative, source-linked pre-screen can reduce repeated research and improve review records. Test that with engineers before claiming savings, compliance outcomes, or operational-risk reduction.</a:t>
            </a:r>
          </a:p>
          <a:p>
            <a:pPr marL="0" indent="0" algn="ctr">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46614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8F193B6A-C27E-FD2B-FCAC-CB712B9CC5D0}"/>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9</a:t>
            </a:fld>
            <a:endParaRPr dirty="0">
              <a:sym typeface="OpenAI Sans"/>
            </a:endParaRPr>
          </a:p>
        </p:txBody>
      </p:sp>
      <p:sp>
        <p:nvSpPr>
          <p:cNvPr id="533" name="Google Shape;533;p58">
            <a:extLst>
              <a:ext uri="{FF2B5EF4-FFF2-40B4-BE49-F238E27FC236}">
                <a16:creationId xmlns:a16="http://schemas.microsoft.com/office/drawing/2014/main"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Commercial scenarios are transparent arithmetic, not a forecast</a:t>
            </a:r>
            <a:endParaRPr dirty="0">
              <a:solidFill>
                <a:schemeClr val="accent1"/>
              </a:solidFill>
            </a:endParaRPr>
          </a:p>
        </p:txBody>
      </p:sp>
      <p:graphicFrame>
        <p:nvGraphicFramePr>
          <p:cNvPr id="2" name="Google Shape;644;p93">
            <a:extLst>
              <a:ext uri="{FF2B5EF4-FFF2-40B4-BE49-F238E27FC236}">
                <a16:creationId xmlns:a16="http://schemas.microsoft.com/office/drawing/2014/main" id="{D298816F-C507-1B76-C71B-E5F8461142E6}"/>
              </a:ext>
            </a:extLst>
          </p:cNvPr>
          <p:cNvGraphicFramePr/>
          <p:nvPr>
            <p:extLst>
              <p:ext uri="{D42A27DB-BD31-4B8C-83A1-F6EECF244321}">
                <p14:modId xmlns:p14="http://schemas.microsoft.com/office/powerpoint/2010/main"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xmlns:a16="http://schemas.microsoft.com/office/drawing/2014/main" val="20001"/>
                    </a:ext>
                  </a:extLst>
                </a:gridCol>
                <a:gridCol w="1694500">
                  <a:extLst>
                    <a:ext uri="{9D8B030D-6E8A-4147-A177-3AD203B41FA5}">
                      <a16:colId xmlns:a16="http://schemas.microsoft.com/office/drawing/2014/main" val="20002"/>
                    </a:ext>
                  </a:extLst>
                </a:gridCol>
                <a:gridCol w="1694500">
                  <a:extLst>
                    <a:ext uri="{9D8B030D-6E8A-4147-A177-3AD203B41FA5}">
                      <a16:colId xmlns:a16="http://schemas.microsoft.com/office/drawing/2014/main" val="20003"/>
                    </a:ext>
                  </a:extLst>
                </a:gridCol>
                <a:gridCol w="1694500">
                  <a:extLst>
                    <a:ext uri="{9D8B030D-6E8A-4147-A177-3AD203B41FA5}">
                      <a16:colId xmlns:a16="http://schemas.microsoft.com/office/drawing/2014/main" val="20004"/>
                    </a:ext>
                  </a:extLst>
                </a:gridCol>
              </a:tblGrid>
              <a:tr h="558432">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Scenario</a:t>
                      </a:r>
                      <a:endParaRPr sz="1400" b="1"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Customers / sites</a:t>
                      </a:r>
                      <a:endParaRPr sz="1400" b="1"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ARR / year-1 revenue</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Year-1 gross profit</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xmlns:a16="http://schemas.microsoft.com/office/drawing/2014/main" val="1000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MVP reported</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 paid sales reported</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 / $0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 customer</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 / 3</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$108K / $133K</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$94.24K</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5 customers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5 / 15</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$540K / $665K</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$471.2K</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 customers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 / 30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$1.08M / $1.33M</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$942.4K</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25 customers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25 / 75</a:t>
                      </a:r>
                      <a:endParaRPr sz="140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$2.70M / $3.325M</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$2.356M</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License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$36K per site / year</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Recurring</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78% GM assumed</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Setup</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$25K per customer</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One-time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40% GM assumed</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Model input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3 sites / customer</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ARR + setup</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Fixed assumption</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37771735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Confidence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Arithmetic only</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 bookings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Not a forecast</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306402219"/>
                  </a:ext>
                </a:extLst>
              </a:tr>
            </a:tbl>
          </a:graphicData>
        </a:graphic>
      </p:graphicFrame>
      <p:sp>
        <p:nvSpPr>
          <p:cNvPr id="3" name="Footer Placeholder 2">
            <a:extLst>
              <a:ext uri="{FF2B5EF4-FFF2-40B4-BE49-F238E27FC236}">
                <a16:creationId xmlns:a16="http://schemas.microsoft.com/office/drawing/2014/main"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xmlns:a16="http://schemas.microsoft.com/office/drawing/2014/main"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ARR means annual recurring subscription income; one-time setup is excluded from ARR and added to first-year revenue. Example gross profit applies assumed 78% software margin and 40% setup-services margin. These cases exclude market sizing, conversion rates, costs beyond those margin assumptions, and optional service revenue. No OTProof revenue has been generated; the inputs still require customer, delivery-cost, and procurement validation.</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8" name="Google Shape;534;p58">
            <a:extLst>
              <a:ext uri="{FF2B5EF4-FFF2-40B4-BE49-F238E27FC236}">
                <a16:creationId xmlns:a16="http://schemas.microsoft.com/office/drawing/2014/main"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Current MVP revenue is reported at $0. All other rows are example assumptions.</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xmlns:p14="http://schemas.microsoft.com/office/powerpoint/2010/main" val="25538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CA52547-020D-99FE-7808-E009E93F50A1}"/>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10</a:t>
            </a:fld>
            <a:endParaRPr dirty="0">
              <a:sym typeface="OpenAI Sans"/>
            </a:endParaRPr>
          </a:p>
        </p:txBody>
      </p:sp>
      <p:sp>
        <p:nvSpPr>
          <p:cNvPr id="533" name="Google Shape;533;p58">
            <a:extLst>
              <a:ext uri="{FF2B5EF4-FFF2-40B4-BE49-F238E27FC236}">
                <a16:creationId xmlns:a16="http://schemas.microsoft.com/office/drawing/2014/main"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Illustrative site-license scenarios — not a forecast</a:t>
            </a:r>
            <a:endParaRPr dirty="0">
              <a:solidFill>
                <a:schemeClr val="accent1"/>
              </a:solidFill>
            </a:endParaRPr>
          </a:p>
        </p:txBody>
      </p:sp>
      <p:graphicFrame>
        <p:nvGraphicFramePr>
          <p:cNvPr id="4" name="Chart 3">
            <a:extLst>
              <a:ext uri="{FF2B5EF4-FFF2-40B4-BE49-F238E27FC236}">
                <a16:creationId xmlns:a16="http://schemas.microsoft.com/office/drawing/2014/main" id="{892A243F-0816-2E7E-47DA-72090C074831}"/>
              </a:ext>
            </a:extLst>
          </p:cNvPr>
          <p:cNvGraphicFramePr/>
          <p:nvPr>
            <p:extLst>
              <p:ext uri="{D42A27DB-BD31-4B8C-83A1-F6EECF244321}">
                <p14:modId xmlns:p14="http://schemas.microsoft.com/office/powerpoint/2010/main" val="3139987496"/>
              </p:ext>
            </p:extLst>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xmlns:a16="http://schemas.microsoft.com/office/drawing/2014/main"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xmlns:a16="http://schemas.microsoft.com/office/drawing/2014/main"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$540K ARR · $471.2K year-1 gross profit under the example margins.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TextBox 12">
            <a:extLst>
              <a:ext uri="{FF2B5EF4-FFF2-40B4-BE49-F238E27FC236}">
                <a16:creationId xmlns:a16="http://schemas.microsoft.com/office/drawing/2014/main"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5 customers · 15 sites</a:t>
            </a:r>
          </a:p>
        </p:txBody>
      </p:sp>
      <p:sp>
        <p:nvSpPr>
          <p:cNvPr id="14" name="Content Placeholder 10">
            <a:extLst>
              <a:ext uri="{FF2B5EF4-FFF2-40B4-BE49-F238E27FC236}">
                <a16:creationId xmlns:a16="http://schemas.microsoft.com/office/drawing/2014/main"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$2.70M ARR · $2.356M year-1 gross profit under the example margins.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5" name="TextBox 14">
            <a:extLst>
              <a:ext uri="{FF2B5EF4-FFF2-40B4-BE49-F238E27FC236}">
                <a16:creationId xmlns:a16="http://schemas.microsoft.com/office/drawing/2014/main"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25 customers · 75 sites</a:t>
            </a:r>
          </a:p>
        </p:txBody>
      </p:sp>
      <p:sp>
        <p:nvSpPr>
          <p:cNvPr id="16" name="Rounded Rectangle 15">
            <a:extLst>
              <a:ext uri="{FF2B5EF4-FFF2-40B4-BE49-F238E27FC236}">
                <a16:creationId xmlns:a16="http://schemas.microsoft.com/office/drawing/2014/main"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xmlns:a16="http://schemas.microsoft.com/office/drawing/2014/main"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$108K ARR · $94.24K year-1 gross profit under the example margins.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TextBox 17">
            <a:extLst>
              <a:ext uri="{FF2B5EF4-FFF2-40B4-BE49-F238E27FC236}">
                <a16:creationId xmlns:a16="http://schemas.microsoft.com/office/drawing/2014/main"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1 customer · 3 sites</a:t>
            </a:r>
          </a:p>
        </p:txBody>
      </p:sp>
    </p:spTree>
    <p:extLst>
      <p:ext uri="{BB962C8B-B14F-4D97-AF65-F5344CB8AC3E}">
        <p14:creationId xmlns:p14="http://schemas.microsoft.com/office/powerpoint/2010/main" val="314597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1A03D60E-5DAA-16C1-57A8-527A813C058D}"/>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11</a:t>
            </a:fld>
            <a:endParaRPr dirty="0">
              <a:sym typeface="OpenAI Sans"/>
            </a:endParaRPr>
          </a:p>
        </p:txBody>
      </p:sp>
      <p:sp>
        <p:nvSpPr>
          <p:cNvPr id="533" name="Google Shape;533;p58">
            <a:extLst>
              <a:ext uri="{FF2B5EF4-FFF2-40B4-BE49-F238E27FC236}">
                <a16:creationId xmlns:a16="http://schemas.microsoft.com/office/drawing/2014/main"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Time savings are a sensitivity example, not a measured result</a:t>
            </a:r>
            <a:endParaRPr dirty="0">
              <a:solidFill>
                <a:schemeClr val="accent1"/>
              </a:solidFill>
            </a:endParaRPr>
          </a:p>
        </p:txBody>
      </p:sp>
      <p:graphicFrame>
        <p:nvGraphicFramePr>
          <p:cNvPr id="4" name="Chart 3">
            <a:extLst>
              <a:ext uri="{FF2B5EF4-FFF2-40B4-BE49-F238E27FC236}">
                <a16:creationId xmlns:a16="http://schemas.microsoft.com/office/drawing/2014/main" id="{F9ECF619-B138-985C-78A5-B4A36DC109EB}"/>
              </a:ext>
            </a:extLst>
          </p:cNvPr>
          <p:cNvGraphicFramePr/>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xmlns:a16="http://schemas.microsoft.com/office/drawing/2014/main"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xmlns:a16="http://schemas.microsoft.com/office/drawing/2014/main"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240h</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xmlns:a16="http://schemas.microsoft.com/office/drawing/2014/main"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Theoretical hours returned per year under the 80-asset scenario.</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8" name="Rounded Rectangle 7">
            <a:extLst>
              <a:ext uri="{FF2B5EF4-FFF2-40B4-BE49-F238E27FC236}">
                <a16:creationId xmlns:a16="http://schemas.microsoft.com/office/drawing/2014/main"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xmlns:a16="http://schemas.microsoft.com/office/drawing/2014/main"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$19K</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xmlns:a16="http://schemas.microsoft.com/office/drawing/2014/main"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Illustrative labor value at an assumed $80 per hour.</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19" name="Content Placeholder 2">
            <a:extLst>
              <a:ext uri="{FF2B5EF4-FFF2-40B4-BE49-F238E27FC236}">
                <a16:creationId xmlns:a16="http://schemas.microsoft.com/office/drawing/2014/main"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Assumptions: 80 assets × 12 relevant notice/product pairs each year; initial review falls from 30 to 15 minutes per pair; loaded labor costs $80/hour. Arithmetic gives 240 hours and $19,200. No OTProof time study has tested these assumptions; engineering work after triage is excluded.</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p>
        </p:txBody>
      </p:sp>
    </p:spTree>
    <p:extLst>
      <p:ext uri="{BB962C8B-B14F-4D97-AF65-F5344CB8AC3E}">
        <p14:creationId xmlns:p14="http://schemas.microsoft.com/office/powerpoint/2010/main" val="39938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Recruit partners</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penAI Sans"/>
              </a:rPr>
              <a:t>Interview 3–5 sites; agree scope, owners, and approved sample-data boundaries.</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Proposed 90-day validation milestones</a:t>
            </a:r>
          </a:p>
        </p:txBody>
      </p:sp>
      <p:sp>
        <p:nvSpPr>
          <p:cNvPr id="17" name="Text Placeholder 16">
            <a:extLst>
              <a:ext uri="{FF2B5EF4-FFF2-40B4-BE49-F238E27FC236}">
                <a16:creationId xmlns:a16="http://schemas.microsoft.com/office/drawing/2014/main"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Test with engineers</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Blind-label multi-vendor examples; measure agreement, misses, abstentions, and review time.</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sp>
        <p:nvSpPr>
          <p:cNvPr id="18" name="Content Placeholder 17">
            <a:extLst>
              <a:ext uri="{FF2B5EF4-FFF2-40B4-BE49-F238E27FC236}">
                <a16:creationId xmlns:a16="http://schemas.microsoft.com/office/drawing/2014/main"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Review the evidence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Assess security, deployment fit, integration demand, willingness to pay, and go/no-go criteria.</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cxnSp>
        <p:nvCxnSpPr>
          <p:cNvPr id="2" name="Google Shape;2259;p159">
            <a:extLst>
              <a:ext uri="{FF2B5EF4-FFF2-40B4-BE49-F238E27FC236}">
                <a16:creationId xmlns:a16="http://schemas.microsoft.com/office/drawing/2014/main"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xmlns:a16="http://schemas.microsoft.com/office/drawing/2014/main"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xmlns:a16="http://schemas.microsoft.com/office/drawing/2014/main"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xmlns:a16="http://schemas.microsoft.com/office/drawing/2014/main"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November 2026</a:t>
            </a:r>
          </a:p>
        </p:txBody>
      </p:sp>
      <p:sp>
        <p:nvSpPr>
          <p:cNvPr id="13" name="Content Placeholder 15">
            <a:extLst>
              <a:ext uri="{FF2B5EF4-FFF2-40B4-BE49-F238E27FC236}">
                <a16:creationId xmlns:a16="http://schemas.microsoft.com/office/drawing/2014/main"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December 2026</a:t>
            </a:r>
          </a:p>
        </p:txBody>
      </p:sp>
      <p:sp>
        <p:nvSpPr>
          <p:cNvPr id="14" name="Content Placeholder 15">
            <a:extLst>
              <a:ext uri="{FF2B5EF4-FFF2-40B4-BE49-F238E27FC236}">
                <a16:creationId xmlns:a16="http://schemas.microsoft.com/office/drawing/2014/main"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January 2027</a:t>
            </a:r>
          </a:p>
        </p:txBody>
      </p:sp>
      <p:sp>
        <p:nvSpPr>
          <p:cNvPr id="7" name="Footer Placeholder 6">
            <a:extLst>
              <a:ext uri="{FF2B5EF4-FFF2-40B4-BE49-F238E27FC236}">
                <a16:creationId xmlns:a16="http://schemas.microsoft.com/office/drawing/2014/main"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44633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CFE5198B-4DE9-7211-B26D-C7E4AA289A1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13</a:t>
            </a:fld>
            <a:endParaRPr dirty="0">
              <a:sym typeface="OpenAI Sans"/>
            </a:endParaRPr>
          </a:p>
        </p:txBody>
      </p:sp>
      <p:sp>
        <p:nvSpPr>
          <p:cNvPr id="533" name="Google Shape;533;p58">
            <a:extLst>
              <a:ext uri="{FF2B5EF4-FFF2-40B4-BE49-F238E27FC236}">
                <a16:creationId xmlns:a16="http://schemas.microsoft.com/office/drawing/2014/main"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Proposed work plan for a controlled pilot</a:t>
            </a:r>
            <a:endParaRPr dirty="0">
              <a:solidFill>
                <a:schemeClr val="accent1"/>
              </a:solidFill>
            </a:endParaRPr>
          </a:p>
        </p:txBody>
      </p:sp>
      <p:graphicFrame>
        <p:nvGraphicFramePr>
          <p:cNvPr id="4" name="Google Shape;953;p80">
            <a:extLst>
              <a:ext uri="{FF2B5EF4-FFF2-40B4-BE49-F238E27FC236}">
                <a16:creationId xmlns:a16="http://schemas.microsoft.com/office/drawing/2014/main" id="{132CDF09-C451-CA62-761F-27510206387F}"/>
              </a:ext>
            </a:extLst>
          </p:cNvPr>
          <p:cNvGraphicFramePr/>
          <p:nvPr>
            <p:extLst>
              <p:ext uri="{D42A27DB-BD31-4B8C-83A1-F6EECF244321}">
                <p14:modId xmlns:p14="http://schemas.microsoft.com/office/powerpoint/2010/main"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xmlns:a16="http://schemas.microsoft.com/office/drawing/2014/main" val="20000"/>
                    </a:ext>
                  </a:extLst>
                </a:gridCol>
                <a:gridCol w="2280920">
                  <a:extLst>
                    <a:ext uri="{9D8B030D-6E8A-4147-A177-3AD203B41FA5}">
                      <a16:colId xmlns:a16="http://schemas.microsoft.com/office/drawing/2014/main" val="20001"/>
                    </a:ext>
                  </a:extLst>
                </a:gridCol>
                <a:gridCol w="2280920">
                  <a:extLst>
                    <a:ext uri="{9D8B030D-6E8A-4147-A177-3AD203B41FA5}">
                      <a16:colId xmlns:a16="http://schemas.microsoft.com/office/drawing/2014/main" val="20002"/>
                    </a:ext>
                  </a:extLst>
                </a:gridCol>
                <a:gridCol w="2280920">
                  <a:extLst>
                    <a:ext uri="{9D8B030D-6E8A-4147-A177-3AD203B41FA5}">
                      <a16:colId xmlns:a16="http://schemas.microsoft.com/office/drawing/2014/main" val="20003"/>
                    </a:ext>
                  </a:extLst>
                </a:gridCol>
                <a:gridCol w="2280920">
                  <a:extLst>
                    <a:ext uri="{9D8B030D-6E8A-4147-A177-3AD203B41FA5}">
                      <a16:colId xmlns:a16="http://schemas.microsoft.com/office/drawing/2014/main"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Weeks 1–2</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Weeks 3–4</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Weeks 5–6</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Weeks 7–9</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Weeks 10–12</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 name="Google Shape;955;p80">
            <a:extLst>
              <a:ext uri="{FF2B5EF4-FFF2-40B4-BE49-F238E27FC236}">
                <a16:creationId xmlns:a16="http://schemas.microsoft.com/office/drawing/2014/main"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Blind label test</a:t>
            </a:r>
          </a:p>
        </p:txBody>
      </p:sp>
      <p:sp>
        <p:nvSpPr>
          <p:cNvPr id="6" name="Google Shape;957;p80">
            <a:extLst>
              <a:ext uri="{FF2B5EF4-FFF2-40B4-BE49-F238E27FC236}">
                <a16:creationId xmlns:a16="http://schemas.microsoft.com/office/drawing/2014/main"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Partner security review</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xmlns:a16="http://schemas.microsoft.com/office/drawing/2014/main"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Measure time and agreement</a:t>
            </a:r>
          </a:p>
        </p:txBody>
      </p:sp>
      <p:sp>
        <p:nvSpPr>
          <p:cNvPr id="8" name="Google Shape;963;p80">
            <a:extLst>
              <a:ext uri="{FF2B5EF4-FFF2-40B4-BE49-F238E27FC236}">
                <a16:creationId xmlns:a16="http://schemas.microsoft.com/office/drawing/2014/main"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Controlled pilot workflow</a:t>
            </a:r>
          </a:p>
        </p:txBody>
      </p:sp>
      <p:sp>
        <p:nvSpPr>
          <p:cNvPr id="9" name="Google Shape;966;p80">
            <a:extLst>
              <a:ext uri="{FF2B5EF4-FFF2-40B4-BE49-F238E27FC236}">
                <a16:creationId xmlns:a16="http://schemas.microsoft.com/office/drawing/2014/main"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Inventory and source mapping</a:t>
            </a:r>
          </a:p>
        </p:txBody>
      </p:sp>
      <p:sp>
        <p:nvSpPr>
          <p:cNvPr id="10" name="Google Shape;969;p80">
            <a:extLst>
              <a:ext uri="{FF2B5EF4-FFF2-40B4-BE49-F238E27FC236}">
                <a16:creationId xmlns:a16="http://schemas.microsoft.com/office/drawing/2014/main"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Recruit design partners</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xmlns:a16="http://schemas.microsoft.com/office/drawing/2014/main"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243517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55DD-98B9-E077-6778-D5F2B926E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The next proof point is an operator pilot</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Invite 3–5 design-partner sites to test the workflow with approved sample data.</a:t>
            </a:r>
          </a:p>
          <a:p>
            <a:pPr>
              <a:lnSpc>
                <a:spcPct val="120000"/>
              </a:lnSpc>
            </a:pPr>
            <a:r>
              <a:rPr lang="en-US" sz="1600" dirty="0">
                <a:solidFill>
                  <a:schemeClr val="accent2">
                    <a:lumMod val="50000"/>
                  </a:schemeClr>
                </a:solidFill>
              </a:rPr>
              <a:t>Measure missed affected cases, engineer agreement, abstention quality, review time, and onboarding effort.</a:t>
            </a:r>
          </a:p>
          <a:p>
            <a:pPr>
              <a:lnSpc>
                <a:spcPct val="120000"/>
              </a:lnSpc>
            </a:pPr>
            <a:r>
              <a:rPr lang="en-US" sz="1600" dirty="0">
                <a:solidFill>
                  <a:schemeClr val="accent2">
                    <a:lumMod val="50000"/>
                  </a:schemeClr>
                </a:solidFill>
              </a:rPr>
              <a:t>Decide whether to continue only after security, deployment fit, and willingness to pay are tested.</a:t>
            </a:r>
          </a:p>
        </p:txBody>
      </p:sp>
      <p:cxnSp>
        <p:nvCxnSpPr>
          <p:cNvPr id="3" name="Straight Connector 2">
            <a:extLst>
              <a:ext uri="{FF2B5EF4-FFF2-40B4-BE49-F238E27FC236}">
                <a16:creationId xmlns:a16="http://schemas.microsoft.com/office/drawing/2014/main"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OpenAI Sans</vt:lpstr>
      <vt:lpstr>Helvetica Neue Medium</vt:lpstr>
      <vt:lpstr>Aptos</vt:lpstr>
      <vt:lpstr>Default Codex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coreProperties>
</file>